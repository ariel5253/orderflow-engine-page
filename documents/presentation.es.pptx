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El enunciado describe un marketplace B2B donde los tenderos piden bebidas a los distribuidores, en varios países y marcas sobre una misma plataforma. Su punto más delicado es un incidente que se repitió en tres releases: el tendero recibía un número de pedido y luego el pedido no estaba en su historial. Todo lo que sigue está diseñado para que eso no vuelva a pasar.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Las tres partes del enunciado viven en el repositorio de la API: el motor, la confirmación y el ADR. Alrededor están el cliente web, que el dueño del producto amplió de una pantalla de resumen al flujo completo, la infraestructura que corre todo junto y la documentación. Nada de A1, A2 ni A3 depende del cliente web.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Cada componente vive en su propio repositorio, así que el servicio, el cliente, la infraestructura y los documentos evolucionan y se publican por separado. El repositorio de la API se sostiene solo como el entregable que pide el enunciado. El repositorio de infraestructura es el único que referencia a sus hermanos, porque los orquesta.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Las flechas muestran lo que cada repositorio toma de otro: la especificación de </a:t>
            </a:r>
            <a:r>
              <a:rPr sz="1200" b="0" lang="es-CO">
                <a:solidFill>
                  <a:srgbClr val="C2410C"/>
                </a:solidFill>
                <a:latin typeface="Arial"/>
              </a:rPr>
              <a:t>orderflow-engine-docs</a:t>
            </a:r>
            <a:r>
              <a:rPr sz="1200" b="0" lang="es-CO">
                <a:solidFill>
                  <a:srgbClr val="0F172A"/>
                </a:solidFill>
                <a:latin typeface="Arial"/>
              </a:rPr>
              <a:t> gobierna a todos, los generadores de </a:t>
            </a:r>
            <a:r>
              <a:rPr sz="1200" b="0" lang="es-CO">
                <a:solidFill>
                  <a:srgbClr val="C2410C"/>
                </a:solidFill>
                <a:latin typeface="Arial"/>
              </a:rPr>
              <a:t>orderflow-engine-tools</a:t>
            </a:r>
            <a:r>
              <a:rPr sz="1200" b="0" lang="es-CO">
                <a:solidFill>
                  <a:srgbClr val="0F172A"/>
                </a:solidFill>
                <a:latin typeface="Arial"/>
              </a:rPr>
              <a:t> producen lo que publica la documentación, el cliente web sigue el contrato de la API, y </a:t>
            </a:r>
            <a:r>
              <a:rPr sz="1200" b="0" lang="es-CO">
                <a:solidFill>
                  <a:srgbClr val="C2410C"/>
                </a:solidFill>
                <a:latin typeface="Arial"/>
              </a:rPr>
              <a:t>orderflow-engine-infra</a:t>
            </a:r>
            <a:r>
              <a:rPr sz="1200" b="0" lang="es-CO">
                <a:solidFill>
                  <a:srgbClr val="0F172A"/>
                </a:solidFill>
                <a:latin typeface="Arial"/>
              </a:rPr>
              <a:t> ejecuta las pruebas de ambos.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En ejecución hay un servicio y una base de datos. El navegador solo llama a su propio origen, y nginx reenvía las rutas de la API. Nada en el camino de la petición llama al push ni al ERP: esos efectos salen por el relay del outbox una vez confirmado el pedido.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El selector de tienda reemplaza al inicio de sesión, que está fuera de alcance: envía un tenant y un cliente sembrados en las cabeceras. El carrito lista exactamente lo que la API puede cotizar y nunca calcula dinero, así que el total llega con la cotización. El navegador guarda un carrito por tienda.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Esta es la pantalla que el enunciado ofrecía como front opcional. Lee la cotización desde la API en cada visita y muestra cada monto tal como lo envió la API. La verificación de cupo aquí es informativa: el cupo solo se consume al confirmar.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Este es el desglose que pide el enunciado: por línea y en totales, el subtotal bruto, los descuentos con su origen, los obsequios con su cantidad, la base gravable, los impuestos y el total. El combo aparece una sola vez, como exige el enunciado, y su parte en cada línea solo explica el impuesto de esa línea. Donde el país grava los obsequios, la pantalla aclara que el impuesto del obsequio lo paga el cliente.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La idempotencia del lado del cliente refleja la del servidor: una clave por cotización, creada en el primer tap y reutilizada en cada reintento. Si la red falla después del commit del pedido, el reintento recibe el mismo pedido en lugar de un duplicado. El carrito de la tienda se vacía después del 201.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Aquí se cierra el ciclo del defecto reportado: el número que el tendero acaba de recibir está en su historial de inmediato. El historial lee las mismas tablas primarias que escribió la confirmación, y el flujo de extremo a extremo lo verifica en español y en inglés.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El motor es una función pura: primero normaliza el carrito, y el mismo carrito con la misma foto de datos siempre da el mismo desglose. Los combos van antes que las escalas para que las mismas unidades nunca se descuenten dos veces, y el impuesto se calcula después de los descuentos comerciales, como pide el enunciado. El golden test 1 muestra los tramos marginales: 25 colas a 2,500 dan 1,250 más 1,500, un descuento de 2,750 y un total de 71,103.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Los pasos en ámbar son los únicos puntos de redondeo: los descuentos y el impuesto de cada línea, con la escala y el modo de redondeo del país. El total es la suma de las líneas redondeadas y nunca se redondea otra vez, y la evaluación del cupo corre fuera del motor.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Redondear por línea coincide con la forma en que la factura electrónica lleva el impuesto, así que el pedido y su factura siempre cuadran. El golden test 4 lo muestra: un descuento de combo de 3,600 se reparte en 2,647 y 953 por mayor residuo, los impuestos son 1,397 y 132, y el total es 11,529. El cliente web tampoco hace aritmética con dinero: formatea los strings de la API.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El total cotizado es igual al confirmado por construcción, no porque se comparen dos cálculos: hay una sola copia de cada cifra y el pedido apunta a ella. El ADR registra el compromiso: un precio equivocado se respeta como máximo durante un tiempo de vida, y la revocación de cotizaciones es el siguiente paso de su mitigación.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Todas las escrituras de la confirmación ocurren en una transacción de PostgreSQL, y la respuesta se envía solo después del commit, así que un número de pedido devuelto siempre apunta a una fila confirmada y legible. La misma clave con el mismo cuerpo devuelve la respuesta guardada byte a byte, con </a:t>
            </a:r>
            <a:r>
              <a:rPr sz="1200" b="0" lang="es-CO">
                <a:solidFill>
                  <a:srgbClr val="C2410C"/>
                </a:solidFill>
                <a:latin typeface="Arial"/>
              </a:rPr>
              <a:t>Idempotent-Replayed: true</a:t>
            </a:r>
            <a:r>
              <a:rPr sz="1200" b="0" lang="es-CO">
                <a:solidFill>
                  <a:srgbClr val="0F172A"/>
                </a:solidFill>
                <a:latin typeface="Arial"/>
              </a:rPr>
              <a:t>, mientras que una petición fallida no se guarda, así que el cliente puede corregir la causa y reintentar. Los bloqueos se toman siempre en el orden clave, cotización, cupo, así que las confirmaciones concurrentes no pueden entrar en deadlock.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Si el push o el ERP están caídos, el pedido sigue confirmado y el efecto espera en el outbox, el gauge </a:t>
            </a:r>
            <a:r>
              <a:rPr sz="1200" b="0" lang="es-CO">
                <a:solidFill>
                  <a:srgbClr val="C2410C"/>
                </a:solidFill>
                <a:latin typeface="Arial"/>
              </a:rPr>
              <a:t>outbox_pending</a:t>
            </a:r>
            <a:r>
              <a:rPr sz="1200" b="0" lang="es-CO">
                <a:solidFill>
                  <a:srgbClr val="0F172A"/>
                </a:solidFill>
                <a:latin typeface="Arial"/>
              </a:rPr>
              <a:t> muestra el atraso, y la entrega se reanuda cuando el sistema se recupera. Si el servicio se detiene entre el envío y la marca, el lease vence y el evento se envía de nuevo, lo cual es seguro porque los consumidores deduplican. Un operador reencola un evento </a:t>
            </a:r>
            <a:r>
              <a:rPr sz="1200" b="0" lang="es-CO">
                <a:solidFill>
                  <a:srgbClr val="C2410C"/>
                </a:solidFill>
                <a:latin typeface="Arial"/>
              </a:rPr>
              <a:t>DEAD</a:t>
            </a:r>
            <a:r>
              <a:rPr sz="1200" b="0" lang="es-CO">
                <a:solidFill>
                  <a:srgbClr val="0F172A"/>
                </a:solidFill>
                <a:latin typeface="Arial"/>
              </a:rPr>
              <a:t> con una actualización SQL, documentada en el README de la API.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Un evento se escribe como </a:t>
            </a:r>
            <a:r>
              <a:rPr sz="1200" b="0" lang="es-CO">
                <a:solidFill>
                  <a:srgbClr val="C2410C"/>
                </a:solidFill>
                <a:latin typeface="Arial"/>
              </a:rPr>
              <a:t>PENDING</a:t>
            </a:r>
            <a:r>
              <a:rPr sz="1200" b="0" lang="es-CO">
                <a:solidFill>
                  <a:srgbClr val="0F172A"/>
                </a:solidFill>
                <a:latin typeface="Arial"/>
              </a:rPr>
              <a:t> en la transacción del pedido, se toma con un lease y </a:t>
            </a:r>
            <a:r>
              <a:rPr sz="1200" b="0" lang="es-CO">
                <a:solidFill>
                  <a:srgbClr val="C2410C"/>
                </a:solidFill>
                <a:latin typeface="Arial"/>
              </a:rPr>
              <a:t>SKIP LOCKED</a:t>
            </a:r>
            <a:r>
              <a:rPr sz="1200" b="0" lang="es-CO">
                <a:solidFill>
                  <a:srgbClr val="0F172A"/>
                </a:solidFill>
                <a:latin typeface="Arial"/>
              </a:rPr>
              <a:t> mientras se envía, y pasa a </a:t>
            </a:r>
            <a:r>
              <a:rPr sz="1200" b="0" lang="es-CO">
                <a:solidFill>
                  <a:srgbClr val="C2410C"/>
                </a:solidFill>
                <a:latin typeface="Arial"/>
              </a:rPr>
              <a:t>SENT</a:t>
            </a:r>
            <a:r>
              <a:rPr sz="1200" b="0" lang="es-CO">
                <a:solidFill>
                  <a:srgbClr val="0F172A"/>
                </a:solidFill>
                <a:latin typeface="Arial"/>
              </a:rPr>
              <a:t> cuando la llamada sale bien. Un fallo reintentable o un lease vencido lo devuelve a </a:t>
            </a:r>
            <a:r>
              <a:rPr sz="1200" b="0" lang="es-CO">
                <a:solidFill>
                  <a:srgbClr val="C2410C"/>
                </a:solidFill>
                <a:latin typeface="Arial"/>
              </a:rPr>
              <a:t>PENDING</a:t>
            </a:r>
            <a:r>
              <a:rPr sz="1200" b="0" lang="es-CO">
                <a:solidFill>
                  <a:srgbClr val="0F172A"/>
                </a:solidFill>
                <a:latin typeface="Arial"/>
              </a:rPr>
              <a:t> con backoff; un error no reintentable o el último intento lo deja en </a:t>
            </a:r>
            <a:r>
              <a:rPr sz="1200" b="0" lang="es-CO">
                <a:solidFill>
                  <a:srgbClr val="C2410C"/>
                </a:solidFill>
                <a:latin typeface="Arial"/>
              </a:rPr>
              <a:t>DEAD</a:t>
            </a:r>
            <a:r>
              <a:rPr sz="1200" b="0" lang="es-CO">
                <a:solidFill>
                  <a:srgbClr val="0F172A"/>
                </a:solidFill>
                <a:latin typeface="Arial"/>
              </a:rPr>
              <a:t>, y un operador puede reencolarlo.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La moneda, la escala, el modo de redondeo, las tasas de impuesto, la política de impuesto del obsequio y la vigencia de la cotización son datos del país, y ninguno está quemado en el código; Guatemala y Perú fueron la prueba, porque llegaron solo como datos. Agregar un idioma es un archivo por lado. El selector ES/EN traduce la interfaz, mientras que los nombres de productos y tiendas se quedan en el idioma del tenant.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Estas cifras salen del handoff, cada una con el comando que la produjo. Las pruebas de integración corren contra un PostgreSQL 17 real con Testcontainers, y ArchUnit mantiene el dominio puro y el límite de la transacción en los casos de uso. Las pruebas de mutación demuestran que las pruebas de precios detectan código incorrecto, no solo que lo ejecutan.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Tres comandos lo cubren: uno levanta el stack, otro corre las pruebas de la API y otro corre todas las verificaciones del espacio de trabajo. Compose construye las imágenes de la API y del cliente web desde los repositorios hermanos y arranca primero PostgreSQL, y Docker reinicia cada servicio salvo que se haya detenido a mano. En Windows, </a:t>
            </a:r>
            <a:r>
              <a:rPr sz="1200" b="0" lang="es-CO">
                <a:solidFill>
                  <a:srgbClr val="C2410C"/>
                </a:solidFill>
                <a:latin typeface="Arial"/>
              </a:rPr>
              <a:t>pwsh -File scripts/test-all.ps1</a:t>
            </a:r>
            <a:r>
              <a:rPr sz="1200" b="0" lang="es-CO">
                <a:solidFill>
                  <a:srgbClr val="0F172A"/>
                </a:solidFill>
                <a:latin typeface="Arial"/>
              </a:rPr>
              <a:t> corre los mismos pasos.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Cada recorte es deliberado y está registrado, con su motivo, en el README de la API y en el ADR. SonarQube importaría el reporte de JaCoCo que el build ya genera, así que un CI puede agregarlo sin cambiar el proyecto. El repositorio de la app móvil está reservado y no se construyó.</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lang="es-CO">
                <a:solidFill>
                  <a:srgbClr val="0F172A"/>
                </a:solidFill>
                <a:latin typeface="Arial"/>
              </a:rPr>
              <a:t>Estas son las cuatro garantías de la especificación, cada una con el mecanismo que la sostiene. El defecto que reportó el enunciado, un número de pedido devuelto y luego ausente, no puede ocurrir por construcción, y las pruebas lo demuestran. Gracias; con gusto recorro cualquier parte en el código.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005840" y="1463040"/>
            <a:ext cx="10637520" cy="1828800"/>
          </a:xfrm>
        </p:spPr>
        <p:txBody>
          <a:bodyPr wrap="square" anchor="b" lIns="0" rIns="0" tIns="0" bIns="0">
            <a:noAutofit/>
          </a:bodyPr>
          <a:lstStyle/>
          <a:p>
            <a:pPr algn="l"/>
            <a:r>
              <a:rPr sz="4400" b="1" lang="es-CO">
                <a:solidFill>
                  <a:srgbClr val="0F172A"/>
                </a:solidFill>
                <a:latin typeface="Arial"/>
              </a:rPr>
              <a:t>Orderflow Engine</a:t>
            </a:r>
          </a:p>
        </p:txBody>
      </p:sp>
      <p:sp>
        <p:nvSpPr>
          <p:cNvPr id="3" name="Subtitle 2"/>
          <p:cNvSpPr>
            <a:spLocks noGrp="1"/>
          </p:cNvSpPr>
          <p:nvPr>
            <p:ph type="subTitle" idx="1"/>
          </p:nvPr>
        </p:nvSpPr>
        <p:spPr>
          <a:xfrm>
            <a:off x="1005840" y="3749039"/>
            <a:ext cx="10637520" cy="1097280"/>
          </a:xfrm>
        </p:spPr>
        <p:txBody>
          <a:bodyPr wrap="square" anchor="t" lIns="0" rIns="0" tIns="0" bIns="0">
            <a:noAutofit/>
          </a:bodyPr>
          <a:lstStyle/>
          <a:p>
            <a:pPr algn="l"/>
            <a:r>
              <a:rPr sz="2200" b="0" lang="es-CO">
                <a:solidFill>
                  <a:srgbClr val="475569"/>
                </a:solidFill>
                <a:latin typeface="Arial"/>
              </a:rPr>
              <a:t>Motor de precios y confirmación idempotente de pedidos para un marketplace B2B de bebidas en varios países · Jesús Ariel González Bonilla · 2026-10-17</a:t>
            </a:r>
          </a:p>
        </p:txBody>
      </p:sp>
      <p:sp>
        <p:nvSpPr>
          <p:cNvPr id="4" name="Accent band"/>
          <p:cNvSpPr/>
          <p:nvPr/>
        </p:nvSpPr>
        <p:spPr>
          <a:xfrm>
            <a:off x="0" y="0"/>
            <a:ext cx="256032"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 line"/>
          <p:cNvSpPr/>
          <p:nvPr/>
        </p:nvSpPr>
        <p:spPr>
          <a:xfrm>
            <a:off x="1005840" y="3520440"/>
            <a:ext cx="1463040" cy="6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El problema</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1673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s-CO">
                <a:solidFill>
                  <a:srgbClr val="0F172A"/>
                </a:solidFill>
                <a:latin typeface="Arial"/>
              </a:rPr>
              <a:t>Los tenderos compran a distribuidores de bebidas en una plataforma B2B multi-tenant, en varios países y marcas</a:t>
            </a:r>
          </a:p>
          <a:p>
            <a:pPr marL="237490" indent="-237490">
              <a:spcBef>
                <a:spcPts val="990"/>
              </a:spcBef>
              <a:buClr>
                <a:srgbClr val="C2410C"/>
              </a:buClr>
              <a:buSzPct val="100000"/>
              <a:buFont typeface="Arial"/>
              <a:buChar char="•"/>
            </a:pPr>
            <a:r>
              <a:rPr sz="2200" b="0" lang="es-CO">
                <a:solidFill>
                  <a:srgbClr val="0F172A"/>
                </a:solidFill>
                <a:latin typeface="Arial"/>
              </a:rPr>
              <a:t>Un pedido pasa por catálogo → carrito → checkout (cotización) → confirmación → historial</a:t>
            </a:r>
          </a:p>
          <a:p>
            <a:pPr marL="237490" indent="-237490">
              <a:spcBef>
                <a:spcPts val="990"/>
              </a:spcBef>
              <a:buClr>
                <a:srgbClr val="C2410C"/>
              </a:buClr>
              <a:buSzPct val="100000"/>
              <a:buFont typeface="Arial"/>
              <a:buChar char="•"/>
            </a:pPr>
            <a:r>
              <a:rPr sz="2200" b="0" lang="es-CO">
                <a:solidFill>
                  <a:srgbClr val="0F172A"/>
                </a:solidFill>
                <a:latin typeface="Arial"/>
              </a:rPr>
              <a:t>Descuentos por escala, combos, obsequios, impuestos y cupo de crédito pueden actuar sobre el mismo pedido</a:t>
            </a:r>
          </a:p>
          <a:p>
            <a:pPr marL="237490" indent="-237490">
              <a:spcBef>
                <a:spcPts val="990"/>
              </a:spcBef>
              <a:buClr>
                <a:srgbClr val="C2410C"/>
              </a:buClr>
              <a:buSzPct val="100000"/>
              <a:buFont typeface="Arial"/>
              <a:buChar char="•"/>
            </a:pPr>
            <a:r>
              <a:rPr sz="2200" b="0" lang="es-CO">
                <a:solidFill>
                  <a:srgbClr val="0F172A"/>
                </a:solidFill>
                <a:latin typeface="Arial"/>
              </a:rPr>
              <a:t>En tres releases, un pedido se confirmó y se devolvió su número, pero después no aparecía en el historial</a:t>
            </a:r>
          </a:p>
          <a:p>
            <a:pPr marL="237490" indent="-237490">
              <a:spcBef>
                <a:spcPts val="990"/>
              </a:spcBef>
              <a:buClr>
                <a:srgbClr val="C2410C"/>
              </a:buClr>
              <a:buSzPct val="100000"/>
              <a:buFont typeface="Arial"/>
              <a:buChar char="•"/>
            </a:pPr>
            <a:r>
              <a:rPr sz="2200" b="0" lang="es-CO">
                <a:solidFill>
                  <a:srgbClr val="0F172A"/>
                </a:solidFill>
                <a:latin typeface="Arial"/>
              </a:rPr>
              <a:t>En algunos casos ni siquiera había quedado registrado</a:t>
            </a:r>
          </a:p>
          <a:p>
            <a:pPr marL="237490" indent="-237490">
              <a:spcBef>
                <a:spcPts val="990"/>
              </a:spcBef>
              <a:buClr>
                <a:srgbClr val="C2410C"/>
              </a:buClr>
              <a:buSzPct val="100000"/>
              <a:buFont typeface="Arial"/>
              <a:buChar char="•"/>
            </a:pPr>
            <a:r>
              <a:rPr sz="2200" b="0" lang="es-CO">
                <a:solidFill>
                  <a:srgbClr val="0F172A"/>
                </a:solidFill>
                <a:latin typeface="Arial"/>
              </a:rPr>
              <a:t>El reto: hacer eso imposible, y que el total cotizado sea igual al total confirmado</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Qué se entregó</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1673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s-CO">
                <a:solidFill>
                  <a:srgbClr val="0F172A"/>
                </a:solidFill>
                <a:latin typeface="Arial"/>
              </a:rPr>
              <a:t>A1: un motor de precios detrás de </a:t>
            </a:r>
            <a:r>
              <a:rPr sz="2200" b="0" lang="es-CO">
                <a:solidFill>
                  <a:srgbClr val="C2410C"/>
                </a:solidFill>
                <a:latin typeface="Arial"/>
              </a:rPr>
              <a:t>POST /api/v1/quotes</a:t>
            </a:r>
            <a:r>
              <a:rPr sz="2200" b="0" lang="es-CO">
                <a:solidFill>
                  <a:srgbClr val="0F172A"/>
                </a:solidFill>
                <a:latin typeface="Arial"/>
              </a:rPr>
              <a:t>, con el desglose por línea y los totales</a:t>
            </a:r>
          </a:p>
          <a:p>
            <a:pPr marL="237490" indent="-237490">
              <a:spcBef>
                <a:spcPts val="990"/>
              </a:spcBef>
              <a:buClr>
                <a:srgbClr val="C2410C"/>
              </a:buClr>
              <a:buSzPct val="100000"/>
              <a:buFont typeface="Arial"/>
              <a:buChar char="•"/>
            </a:pPr>
            <a:r>
              <a:rPr sz="2200" b="0" lang="es-CO">
                <a:solidFill>
                  <a:srgbClr val="0F172A"/>
                </a:solidFill>
                <a:latin typeface="Arial"/>
              </a:rPr>
              <a:t>A2: un </a:t>
            </a:r>
            <a:r>
              <a:rPr sz="2200" b="0" lang="es-CO">
                <a:solidFill>
                  <a:srgbClr val="C2410C"/>
                </a:solidFill>
                <a:latin typeface="Arial"/>
              </a:rPr>
              <a:t>POST /api/v1/orders</a:t>
            </a:r>
            <a:r>
              <a:rPr sz="2200" b="0" lang="es-CO">
                <a:solidFill>
                  <a:srgbClr val="0F172A"/>
                </a:solidFill>
                <a:latin typeface="Arial"/>
              </a:rPr>
              <a:t> idempotente, el detalle del pedido y el historial de pedidos</a:t>
            </a:r>
          </a:p>
          <a:p>
            <a:pPr marL="237490" indent="-237490">
              <a:spcBef>
                <a:spcPts val="990"/>
              </a:spcBef>
              <a:buClr>
                <a:srgbClr val="C2410C"/>
              </a:buClr>
              <a:buSzPct val="100000"/>
              <a:buFont typeface="Arial"/>
              <a:buChar char="•"/>
            </a:pPr>
            <a:r>
              <a:rPr sz="2200" b="0" lang="es-CO">
                <a:solidFill>
                  <a:srgbClr val="0F172A"/>
                </a:solidFill>
                <a:latin typeface="Arial"/>
              </a:rPr>
              <a:t>A3: un ADR de una página, en inglés y español, en Markdown, Word y PDF</a:t>
            </a:r>
          </a:p>
          <a:p>
            <a:pPr marL="237490" indent="-237490">
              <a:spcBef>
                <a:spcPts val="990"/>
              </a:spcBef>
              <a:buClr>
                <a:srgbClr val="C2410C"/>
              </a:buClr>
              <a:buSzPct val="100000"/>
              <a:buFont typeface="Arial"/>
              <a:buChar char="•"/>
            </a:pPr>
            <a:r>
              <a:rPr sz="2200" b="0" lang="es-CO">
                <a:solidFill>
                  <a:srgbClr val="0F172A"/>
                </a:solidFill>
                <a:latin typeface="Arial"/>
              </a:rPr>
              <a:t>El front opcional, extendido a todo el flujo: carrito, cotización, confirmación, pedido y Mis pedidos</a:t>
            </a:r>
          </a:p>
          <a:p>
            <a:pPr marL="237490" indent="-237490">
              <a:spcBef>
                <a:spcPts val="990"/>
              </a:spcBef>
              <a:buClr>
                <a:srgbClr val="C2410C"/>
              </a:buClr>
              <a:buSzPct val="100000"/>
              <a:buFont typeface="Arial"/>
              <a:buChar char="•"/>
            </a:pPr>
            <a:r>
              <a:rPr sz="2200" b="0" lang="es-CO">
                <a:solidFill>
                  <a:srgbClr val="0F172A"/>
                </a:solidFill>
                <a:latin typeface="Arial"/>
              </a:rPr>
              <a:t>El stack completo con Docker Compose, y un comando que corre todas las pruebas del espacio de trabajo</a:t>
            </a:r>
          </a:p>
          <a:p>
            <a:pPr marL="237490" indent="-237490">
              <a:spcBef>
                <a:spcPts val="990"/>
              </a:spcBef>
              <a:buClr>
                <a:srgbClr val="C2410C"/>
              </a:buClr>
              <a:buSzPct val="100000"/>
              <a:buFont typeface="Arial"/>
              <a:buChar char="•"/>
            </a:pPr>
            <a:r>
              <a:rPr sz="2200" b="0" lang="es-CO">
                <a:solidFill>
                  <a:srgbClr val="0F172A"/>
                </a:solidFill>
                <a:latin typeface="Arial"/>
              </a:rPr>
              <a:t>Especificación, contrato de la API, modelo de datos, nueve diagramas y estos documentos de entrega</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Seis repositorios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98145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s-CO">
                <a:solidFill>
                  <a:srgbClr val="C2410C"/>
                </a:solidFill>
                <a:latin typeface="Arial"/>
              </a:rPr>
              <a:t>orderflow-engine-api</a:t>
            </a:r>
            <a:r>
              <a:rPr sz="2200" b="0" lang="es-CO">
                <a:solidFill>
                  <a:srgbClr val="0F172A"/>
                </a:solidFill>
                <a:latin typeface="Arial"/>
              </a:rPr>
              <a:t>: el entregable, con el código, las pruebas, el README y el ADR</a:t>
            </a:r>
          </a:p>
          <a:p>
            <a:pPr marL="237490" indent="-237490">
              <a:spcBef>
                <a:spcPts val="990"/>
              </a:spcBef>
              <a:buClr>
                <a:srgbClr val="C2410C"/>
              </a:buClr>
              <a:buSzPct val="100000"/>
              <a:buFont typeface="Arial"/>
              <a:buChar char="•"/>
            </a:pPr>
            <a:r>
              <a:rPr sz="2200" b="0" lang="es-CO">
                <a:solidFill>
                  <a:srgbClr val="C2410C"/>
                </a:solidFill>
                <a:latin typeface="Arial"/>
              </a:rPr>
              <a:t>orderflow-engine-web</a:t>
            </a:r>
            <a:r>
              <a:rPr sz="2200" b="0" lang="es-CO">
                <a:solidFill>
                  <a:srgbClr val="0F172A"/>
                </a:solidFill>
                <a:latin typeface="Arial"/>
              </a:rPr>
              <a:t>: el cliente Angular, servido por nginx</a:t>
            </a:r>
          </a:p>
          <a:p>
            <a:pPr marL="237490" indent="-237490">
              <a:spcBef>
                <a:spcPts val="990"/>
              </a:spcBef>
              <a:buClr>
                <a:srgbClr val="C2410C"/>
              </a:buClr>
              <a:buSzPct val="100000"/>
              <a:buFont typeface="Arial"/>
              <a:buChar char="•"/>
            </a:pPr>
            <a:r>
              <a:rPr sz="2200" b="0" lang="es-CO">
                <a:solidFill>
                  <a:srgbClr val="C2410C"/>
                </a:solidFill>
                <a:latin typeface="Arial"/>
              </a:rPr>
              <a:t>orderflow-engine-infra</a:t>
            </a:r>
            <a:r>
              <a:rPr sz="2200" b="0" lang="es-CO">
                <a:solidFill>
                  <a:srgbClr val="0F172A"/>
                </a:solidFill>
                <a:latin typeface="Arial"/>
              </a:rPr>
              <a:t>: el compose del stack completo, </a:t>
            </a:r>
            <a:r>
              <a:rPr sz="2200" b="0" lang="es-CO">
                <a:solidFill>
                  <a:srgbClr val="C2410C"/>
                </a:solidFill>
                <a:latin typeface="Arial"/>
              </a:rPr>
              <a:t>test-all</a:t>
            </a:r>
            <a:r>
              <a:rPr sz="2200" b="0" lang="es-CO">
                <a:solidFill>
                  <a:srgbClr val="0F172A"/>
                </a:solidFill>
                <a:latin typeface="Arial"/>
              </a:rPr>
              <a:t> y la suite de extremo a extremo</a:t>
            </a:r>
          </a:p>
          <a:p>
            <a:pPr marL="237490" indent="-237490">
              <a:spcBef>
                <a:spcPts val="990"/>
              </a:spcBef>
              <a:buClr>
                <a:srgbClr val="C2410C"/>
              </a:buClr>
              <a:buSzPct val="100000"/>
              <a:buFont typeface="Arial"/>
              <a:buChar char="•"/>
            </a:pPr>
            <a:r>
              <a:rPr sz="2200" b="0" lang="es-CO">
                <a:solidFill>
                  <a:srgbClr val="C2410C"/>
                </a:solidFill>
                <a:latin typeface="Arial"/>
              </a:rPr>
              <a:t>orderflow-engine-docs</a:t>
            </a:r>
            <a:r>
              <a:rPr sz="2200" b="0" lang="es-CO">
                <a:solidFill>
                  <a:srgbClr val="0F172A"/>
                </a:solidFill>
                <a:latin typeface="Arial"/>
              </a:rPr>
              <a:t>: especificación, contrato, modelo de datos, arquitectura, diagramas y handoff</a:t>
            </a:r>
          </a:p>
          <a:p>
            <a:pPr marL="237490" indent="-237490">
              <a:spcBef>
                <a:spcPts val="990"/>
              </a:spcBef>
              <a:buClr>
                <a:srgbClr val="C2410C"/>
              </a:buClr>
              <a:buSzPct val="100000"/>
              <a:buFont typeface="Arial"/>
              <a:buChar char="•"/>
            </a:pPr>
            <a:r>
              <a:rPr sz="2200" b="0" lang="es-CO">
                <a:solidFill>
                  <a:srgbClr val="C2410C"/>
                </a:solidFill>
                <a:latin typeface="Arial"/>
              </a:rPr>
              <a:t>orderflow-engine-tools</a:t>
            </a:r>
            <a:r>
              <a:rPr sz="2200" b="0" lang="es-CO">
                <a:solidFill>
                  <a:srgbClr val="0F172A"/>
                </a:solidFill>
                <a:latin typeface="Arial"/>
              </a:rPr>
              <a:t>: generadores y verificaciones de los documentos y los repositorios</a:t>
            </a:r>
          </a:p>
          <a:p>
            <a:pPr marL="237490" indent="-237490">
              <a:spcBef>
                <a:spcPts val="990"/>
              </a:spcBef>
              <a:buClr>
                <a:srgbClr val="C2410C"/>
              </a:buClr>
              <a:buSzPct val="100000"/>
              <a:buFont typeface="Arial"/>
              <a:buChar char="•"/>
            </a:pPr>
            <a:r>
              <a:rPr sz="2200" b="0" lang="es-CO">
                <a:solidFill>
                  <a:srgbClr val="C2410C"/>
                </a:solidFill>
                <a:latin typeface="Arial"/>
              </a:rPr>
              <a:t>orderflow-engine-app</a:t>
            </a:r>
            <a:r>
              <a:rPr sz="2200" b="0" lang="es-CO">
                <a:solidFill>
                  <a:srgbClr val="0F172A"/>
                </a:solidFill>
                <a:latin typeface="Arial"/>
              </a:rPr>
              <a:t>: reservado para una futura app móvil, sin construir</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Los seis repositorios de un vistazo</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Image" descr="Los seis repositorios del espacio de trabajo y lo que cada uno toma de otro"/>
          <p:cNvPicPr>
            <a:picLocks noChangeAspect="1"/>
          </p:cNvPicPr>
          <p:nvPr/>
        </p:nvPicPr>
        <p:blipFill>
          <a:blip r:embed="rId2"/>
          <a:stretch>
            <a:fillRect/>
          </a:stretch>
        </p:blipFill>
        <p:spPr>
          <a:xfrm>
            <a:off x="1688202" y="1508760"/>
            <a:ext cx="8815596" cy="4315969"/>
          </a:xfrm>
          <a:prstGeom prst="rect">
            <a:avLst/>
          </a:prstGeom>
          <a:ln w="9525">
            <a:solidFill>
              <a:srgbClr val="E2E8F0"/>
            </a:solidFill>
          </a:ln>
        </p:spPr>
      </p:pic>
      <p:sp>
        <p:nvSpPr>
          <p:cNvPr id="6" name="Caption"/>
          <p:cNvSpPr txBox="1"/>
          <p:nvPr/>
        </p:nvSpPr>
        <p:spPr>
          <a:xfrm>
            <a:off x="548640" y="5897881"/>
            <a:ext cx="11094720" cy="182879"/>
          </a:xfrm>
          <a:prstGeom prst="rect">
            <a:avLst/>
          </a:prstGeom>
          <a:noFill/>
        </p:spPr>
        <p:txBody>
          <a:bodyPr wrap="square" anchor="t" lIns="0" rIns="0" tIns="0" bIns="0">
            <a:noAutofit/>
          </a:bodyPr>
          <a:lstStyle/>
          <a:p>
            <a:pPr algn="ctr"/>
            <a:r>
              <a:rPr sz="1200" b="0" lang="es-CO">
                <a:solidFill>
                  <a:srgbClr val="475569"/>
                </a:solidFill>
                <a:latin typeface="Arial"/>
              </a:rPr>
              <a:t>Los seis repositorios del espacio de trabajo y lo que cada uno toma de otro</a:t>
            </a:r>
          </a:p>
        </p:txBody>
      </p:sp>
      <p:sp>
        <p:nvSpPr>
          <p:cNvPr id="7"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9"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Topología en ejecución</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4251960"/>
          </a:xfrm>
          <a:prstGeom prst="rect">
            <a:avLst/>
          </a:prstGeom>
          <a:noFill/>
        </p:spPr>
        <p:txBody>
          <a:bodyPr wrap="square" anchor="t" lIns="0" rIns="0" tIns="0" bIns="0">
            <a:noAutofit/>
          </a:bodyPr>
          <a:lstStyle/>
          <a:p>
            <a:pPr marL="194310" indent="-194310">
              <a:buClr>
                <a:srgbClr val="C2410C"/>
              </a:buClr>
              <a:buSzPct val="100000"/>
              <a:buFont typeface="Arial"/>
              <a:buChar char="•"/>
            </a:pPr>
            <a:r>
              <a:rPr sz="1800" b="0" lang="es-CO">
                <a:solidFill>
                  <a:srgbClr val="0F172A"/>
                </a:solidFill>
                <a:latin typeface="Arial"/>
              </a:rPr>
              <a:t>Un solo origen: nginx sirve el cliente Angular y reenvía </a:t>
            </a:r>
            <a:r>
              <a:rPr sz="1800" b="0" lang="es-CO">
                <a:solidFill>
                  <a:srgbClr val="C2410C"/>
                </a:solidFill>
                <a:latin typeface="Arial"/>
              </a:rPr>
              <a:t>/api/</a:t>
            </a:r>
            <a:r>
              <a:rPr sz="1800" b="0" lang="es-CO">
                <a:solidFill>
                  <a:srgbClr val="0F172A"/>
                </a:solidFill>
                <a:latin typeface="Arial"/>
              </a:rPr>
              <a:t> a la API, sin CORS</a:t>
            </a:r>
          </a:p>
          <a:p>
            <a:pPr marL="194310" indent="-194310">
              <a:spcBef>
                <a:spcPts val="810"/>
              </a:spcBef>
              <a:buClr>
                <a:srgbClr val="C2410C"/>
              </a:buClr>
              <a:buSzPct val="100000"/>
              <a:buFont typeface="Arial"/>
              <a:buChar char="•"/>
            </a:pPr>
            <a:r>
              <a:rPr sz="1800" b="0" lang="es-CO">
                <a:solidFill>
                  <a:srgbClr val="0F172A"/>
                </a:solidFill>
                <a:latin typeface="Arial"/>
              </a:rPr>
              <a:t>Un servicio Spring Boot 4.1.1 sobre Java 21: adaptador web, casos de uso, motor puro, persistencia</a:t>
            </a:r>
          </a:p>
          <a:p>
            <a:pPr marL="194310" indent="-194310">
              <a:spcBef>
                <a:spcPts val="810"/>
              </a:spcBef>
              <a:buClr>
                <a:srgbClr val="C2410C"/>
              </a:buClr>
              <a:buSzPct val="100000"/>
              <a:buFont typeface="Arial"/>
              <a:buChar char="•"/>
            </a:pPr>
            <a:r>
              <a:rPr sz="1800" b="0" lang="es-CO">
                <a:solidFill>
                  <a:srgbClr val="0F172A"/>
                </a:solidFill>
                <a:latin typeface="Arial"/>
              </a:rPr>
              <a:t>PostgreSQL 17 es la única fuente de verdad: SQL explícito y bloqueos de fila</a:t>
            </a:r>
          </a:p>
          <a:p>
            <a:pPr marL="194310" indent="-194310">
              <a:spcBef>
                <a:spcPts val="810"/>
              </a:spcBef>
              <a:buClr>
                <a:srgbClr val="C2410C"/>
              </a:buClr>
              <a:buSzPct val="100000"/>
              <a:buFont typeface="Arial"/>
              <a:buChar char="•"/>
            </a:pPr>
            <a:r>
              <a:rPr sz="1800" b="0" lang="es-CO">
                <a:solidFill>
                  <a:srgbClr val="0F172A"/>
                </a:solidFill>
                <a:latin typeface="Arial"/>
              </a:rPr>
              <a:t>El push y el ERP solo los llama el relay del outbox, después del commit del pedido</a:t>
            </a:r>
          </a:p>
          <a:p>
            <a:pPr marL="194310" indent="-194310">
              <a:spcBef>
                <a:spcPts val="810"/>
              </a:spcBef>
              <a:buClr>
                <a:srgbClr val="C2410C"/>
              </a:buClr>
              <a:buSzPct val="100000"/>
              <a:buFont typeface="Arial"/>
              <a:buChar char="•"/>
            </a:pPr>
            <a:r>
              <a:rPr sz="1800" b="0" lang="es-CO">
                <a:solidFill>
                  <a:srgbClr val="0F172A"/>
                </a:solidFill>
                <a:latin typeface="Arial"/>
              </a:rPr>
              <a:t>En esta entrega, el push y el ERP son fakes detrás de puertos que deduplican por </a:t>
            </a:r>
            <a:r>
              <a:rPr sz="1800" b="0" lang="es-CO">
                <a:solidFill>
                  <a:srgbClr val="C2410C"/>
                </a:solidFill>
                <a:latin typeface="Arial"/>
              </a:rPr>
              <a:t>event_id</a:t>
            </a:r>
          </a:p>
        </p:txBody>
      </p:sp>
      <p:pic>
        <p:nvPicPr>
          <p:cNvPr id="6" name="Image" descr="Topología en ejecución: un servicio, una base de datos, efectos solo por el outbox"/>
          <p:cNvPicPr>
            <a:picLocks noChangeAspect="1"/>
          </p:cNvPicPr>
          <p:nvPr/>
        </p:nvPicPr>
        <p:blipFill>
          <a:blip r:embed="rId2"/>
          <a:stretch>
            <a:fillRect/>
          </a:stretch>
        </p:blipFill>
        <p:spPr>
          <a:xfrm>
            <a:off x="5791200" y="1807465"/>
            <a:ext cx="5852160" cy="3535680"/>
          </a:xfrm>
          <a:prstGeom prst="rect">
            <a:avLst/>
          </a:prstGeom>
          <a:ln w="9525">
            <a:solidFill>
              <a:srgbClr val="E2E8F0"/>
            </a:solidFill>
          </a:ln>
        </p:spPr>
      </p:pic>
      <p:sp>
        <p:nvSpPr>
          <p:cNvPr id="7" name="Caption"/>
          <p:cNvSpPr txBox="1"/>
          <p:nvPr/>
        </p:nvSpPr>
        <p:spPr>
          <a:xfrm>
            <a:off x="5791200" y="5416297"/>
            <a:ext cx="5852160" cy="365758"/>
          </a:xfrm>
          <a:prstGeom prst="rect">
            <a:avLst/>
          </a:prstGeom>
          <a:noFill/>
        </p:spPr>
        <p:txBody>
          <a:bodyPr wrap="square" anchor="t" lIns="0" rIns="0" tIns="0" bIns="0">
            <a:noAutofit/>
          </a:bodyPr>
          <a:lstStyle/>
          <a:p>
            <a:pPr algn="ctr"/>
            <a:r>
              <a:rPr sz="1200" b="0" lang="es-CO">
                <a:solidFill>
                  <a:srgbClr val="475569"/>
                </a:solidFill>
                <a:latin typeface="Arial"/>
              </a:rPr>
              <a:t>Topología en ejecución: un servicio, una base de datos, efectos solo por el outbox</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Paso 1: elegir la tienda y armar el carrito</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3383280"/>
          </a:xfrm>
          <a:prstGeom prst="rect">
            <a:avLst/>
          </a:prstGeom>
          <a:noFill/>
        </p:spPr>
        <p:txBody>
          <a:bodyPr wrap="square" anchor="t" lIns="0" rIns="0" tIns="0" bIns="0">
            <a:noAutofit/>
          </a:bodyPr>
          <a:lstStyle/>
          <a:p>
            <a:pPr marL="172720" indent="-172720">
              <a:buClr>
                <a:srgbClr val="C2410C"/>
              </a:buClr>
              <a:buSzPct val="100000"/>
              <a:buFont typeface="Arial"/>
              <a:buChar char="•"/>
            </a:pPr>
            <a:r>
              <a:rPr sz="1600" b="0" lang="es-CO">
                <a:solidFill>
                  <a:srgbClr val="0F172A"/>
                </a:solidFill>
                <a:latin typeface="Arial"/>
              </a:rPr>
              <a:t>El selector de tienda lista ocho tiendas sembradas, dos por país, agrupadas por tenant</a:t>
            </a:r>
          </a:p>
          <a:p>
            <a:pPr marL="172720" indent="-172720">
              <a:spcBef>
                <a:spcPts val="720"/>
              </a:spcBef>
              <a:buClr>
                <a:srgbClr val="C2410C"/>
              </a:buClr>
              <a:buSzPct val="100000"/>
              <a:buFont typeface="Arial"/>
              <a:buChar char="•"/>
            </a:pPr>
            <a:r>
              <a:rPr sz="1600" b="0" lang="es-CO">
                <a:solidFill>
                  <a:srgbClr val="0F172A"/>
                </a:solidFill>
                <a:latin typeface="Arial"/>
              </a:rPr>
              <a:t>El carrito lee los productos del tenant desde la API en cada visita (</a:t>
            </a:r>
            <a:r>
              <a:rPr sz="1600" b="0" lang="es-CO">
                <a:solidFill>
                  <a:srgbClr val="C2410C"/>
                </a:solidFill>
                <a:latin typeface="Arial"/>
              </a:rPr>
              <a:t>GET /api/v1/products</a:t>
            </a:r>
            <a:r>
              <a:rPr sz="1600" b="0" lang="es-CO">
                <a:solidFill>
                  <a:srgbClr val="0F172A"/>
                </a:solidFill>
                <a:latin typeface="Arial"/>
              </a:rPr>
              <a:t>)</a:t>
            </a:r>
          </a:p>
          <a:p>
            <a:pPr marL="172720" indent="-172720">
              <a:spcBef>
                <a:spcPts val="720"/>
              </a:spcBef>
              <a:buClr>
                <a:srgbClr val="C2410C"/>
              </a:buClr>
              <a:buSzPct val="100000"/>
              <a:buFont typeface="Arial"/>
              <a:buChar char="•"/>
            </a:pPr>
            <a:r>
              <a:rPr sz="1600" b="0" lang="es-CO">
                <a:solidFill>
                  <a:srgbClr val="0F172A"/>
                </a:solidFill>
                <a:latin typeface="Arial"/>
              </a:rPr>
              <a:t>Cada producto muestra su imagen, nombre, SKU, precio de lista sin impuestos y tasa de impuesto</a:t>
            </a:r>
          </a:p>
          <a:p>
            <a:pPr marL="172720" indent="-172720">
              <a:spcBef>
                <a:spcPts val="720"/>
              </a:spcBef>
              <a:buClr>
                <a:srgbClr val="C2410C"/>
              </a:buClr>
              <a:buSzPct val="100000"/>
              <a:buFont typeface="Arial"/>
              <a:buChar char="•"/>
            </a:pPr>
            <a:r>
              <a:rPr sz="1600" b="0" lang="es-CO">
                <a:solidFill>
                  <a:srgbClr val="0F172A"/>
                </a:solidFill>
                <a:latin typeface="Arial"/>
              </a:rPr>
              <a:t>"Precios en COP" nombra la moneda, porque COP y USD comparten el símbolo </a:t>
            </a:r>
            <a:r>
              <a:rPr sz="1600" b="0" lang="es-CO">
                <a:solidFill>
                  <a:srgbClr val="C2410C"/>
                </a:solidFill>
                <a:latin typeface="Arial"/>
              </a:rPr>
              <a:t>$</a:t>
            </a:r>
          </a:p>
          <a:p>
            <a:pPr marL="172720" indent="-172720">
              <a:spcBef>
                <a:spcPts val="720"/>
              </a:spcBef>
              <a:buClr>
                <a:srgbClr val="C2410C"/>
              </a:buClr>
              <a:buSzPct val="100000"/>
              <a:buFont typeface="Arial"/>
              <a:buChar char="•"/>
            </a:pPr>
            <a:r>
              <a:rPr sz="1600" b="0" lang="es-CO">
                <a:solidFill>
                  <a:srgbClr val="0F172A"/>
                </a:solidFill>
                <a:latin typeface="Arial"/>
              </a:rPr>
              <a:t>Se elige contado o crédito y se toca "Cotizar"</a:t>
            </a:r>
          </a:p>
          <a:p>
            <a:pPr marL="172720" indent="-172720">
              <a:spcBef>
                <a:spcPts val="720"/>
              </a:spcBef>
              <a:buClr>
                <a:srgbClr val="C2410C"/>
              </a:buClr>
              <a:buSzPct val="100000"/>
              <a:buFont typeface="Arial"/>
              <a:buChar char="•"/>
            </a:pPr>
            <a:r>
              <a:rPr sz="1600" b="0" lang="es-CO">
                <a:solidFill>
                  <a:srgbClr val="0F172A"/>
                </a:solidFill>
                <a:latin typeface="Arial"/>
              </a:rPr>
              <a:t>El carrito solo muestra unidades: ni subtotal ni total hasta la cotización</a:t>
            </a:r>
          </a:p>
        </p:txBody>
      </p:sp>
      <p:pic>
        <p:nvPicPr>
          <p:cNvPr id="6" name="Image" descr="El carrito: el catálogo del tenant con precios de lista sin impuestos"/>
          <p:cNvPicPr>
            <a:picLocks noChangeAspect="1"/>
          </p:cNvPicPr>
          <p:nvPr/>
        </p:nvPicPr>
        <p:blipFill>
          <a:blip r:embed="rId2"/>
          <a:stretch>
            <a:fillRect/>
          </a:stretch>
        </p:blipFill>
        <p:spPr>
          <a:xfrm>
            <a:off x="5791200" y="1744218"/>
            <a:ext cx="5852160" cy="3845052"/>
          </a:xfrm>
          <a:prstGeom prst="rect">
            <a:avLst/>
          </a:prstGeom>
          <a:ln w="9525">
            <a:solidFill>
              <a:srgbClr val="E2E8F0"/>
            </a:solidFill>
          </a:ln>
        </p:spPr>
      </p:pic>
      <p:sp>
        <p:nvSpPr>
          <p:cNvPr id="7" name="Caption"/>
          <p:cNvSpPr txBox="1"/>
          <p:nvPr/>
        </p:nvSpPr>
        <p:spPr>
          <a:xfrm>
            <a:off x="5791200" y="5662422"/>
            <a:ext cx="5852160" cy="182879"/>
          </a:xfrm>
          <a:prstGeom prst="rect">
            <a:avLst/>
          </a:prstGeom>
          <a:noFill/>
        </p:spPr>
        <p:txBody>
          <a:bodyPr wrap="square" anchor="t" lIns="0" rIns="0" tIns="0" bIns="0">
            <a:noAutofit/>
          </a:bodyPr>
          <a:lstStyle/>
          <a:p>
            <a:pPr algn="ctr"/>
            <a:r>
              <a:rPr sz="1200" b="0" lang="es-CO">
                <a:solidFill>
                  <a:srgbClr val="475569"/>
                </a:solidFill>
                <a:latin typeface="Arial"/>
              </a:rPr>
              <a:t>El carrito: el catálogo del tenant con precios de lista sin impuestos</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Paso 2: cotizar</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7802880" cy="3505200"/>
          </a:xfrm>
          <a:prstGeom prst="rect">
            <a:avLst/>
          </a:prstGeom>
          <a:noFill/>
        </p:spPr>
        <p:txBody>
          <a:bodyPr wrap="square" anchor="t" lIns="0" rIns="0" tIns="0" bIns="0">
            <a:noAutofit/>
          </a:bodyPr>
          <a:lstStyle/>
          <a:p>
            <a:pPr marL="215900" indent="-215900">
              <a:buClr>
                <a:srgbClr val="C2410C"/>
              </a:buClr>
              <a:buSzPct val="100000"/>
              <a:buFont typeface="Arial"/>
              <a:buChar char="•"/>
            </a:pPr>
            <a:r>
              <a:rPr sz="2000" b="0" lang="es-CO">
                <a:solidFill>
                  <a:srgbClr val="C2410C"/>
                </a:solidFill>
                <a:latin typeface="Arial"/>
              </a:rPr>
              <a:t>POST /api/v1/quotes</a:t>
            </a:r>
            <a:r>
              <a:rPr sz="2000" b="0" lang="es-CO">
                <a:solidFill>
                  <a:srgbClr val="0F172A"/>
                </a:solidFill>
                <a:latin typeface="Arial"/>
              </a:rPr>
              <a:t> calcula el precio del carrito una sola vez y sella la cotización</a:t>
            </a:r>
          </a:p>
          <a:p>
            <a:pPr marL="215900" indent="-215900">
              <a:spcBef>
                <a:spcPts val="900"/>
              </a:spcBef>
              <a:buClr>
                <a:srgbClr val="C2410C"/>
              </a:buClr>
              <a:buSzPct val="100000"/>
              <a:buFont typeface="Arial"/>
              <a:buChar char="•"/>
            </a:pPr>
            <a:r>
              <a:rPr sz="2000" b="0" lang="es-CO">
                <a:solidFill>
                  <a:srgbClr val="0F172A"/>
                </a:solidFill>
                <a:latin typeface="Arial"/>
              </a:rPr>
              <a:t>El resumen muestra cada línea, los totales del pedido y hasta cuándo se garantiza el precio</a:t>
            </a:r>
          </a:p>
          <a:p>
            <a:pPr marL="215900" indent="-215900">
              <a:spcBef>
                <a:spcPts val="900"/>
              </a:spcBef>
              <a:buClr>
                <a:srgbClr val="C2410C"/>
              </a:buClr>
              <a:buSzPct val="100000"/>
              <a:buFont typeface="Arial"/>
              <a:buChar char="•"/>
            </a:pPr>
            <a:r>
              <a:rPr sz="2000" b="0" lang="es-CO">
                <a:solidFill>
                  <a:srgbClr val="0F172A"/>
                </a:solidFill>
                <a:latin typeface="Arial"/>
              </a:rPr>
              <a:t>El precio se garantiza por 15 minutos, un tiempo de vida definido por país</a:t>
            </a:r>
          </a:p>
          <a:p>
            <a:pPr marL="215900" indent="-215900">
              <a:spcBef>
                <a:spcPts val="900"/>
              </a:spcBef>
              <a:buClr>
                <a:srgbClr val="C2410C"/>
              </a:buClr>
              <a:buSzPct val="100000"/>
              <a:buFont typeface="Arial"/>
              <a:buChar char="•"/>
            </a:pPr>
            <a:r>
              <a:rPr sz="2000" b="0" lang="es-CO">
                <a:solidFill>
                  <a:srgbClr val="0F172A"/>
                </a:solidFill>
                <a:latin typeface="Arial"/>
              </a:rPr>
              <a:t>A crédito, muestra el cupo disponible y si el pedido cabe; todavía no se reserva nada</a:t>
            </a:r>
          </a:p>
          <a:p>
            <a:pPr marL="215900" indent="-215900">
              <a:spcBef>
                <a:spcPts val="900"/>
              </a:spcBef>
              <a:buClr>
                <a:srgbClr val="C2410C"/>
              </a:buClr>
              <a:buSzPct val="100000"/>
              <a:buFont typeface="Arial"/>
              <a:buChar char="•"/>
            </a:pPr>
            <a:r>
              <a:rPr sz="2000" b="0" lang="es-CO">
                <a:solidFill>
                  <a:srgbClr val="0F172A"/>
                </a:solidFill>
                <a:latin typeface="Arial"/>
              </a:rPr>
              <a:t>Si no cabe, "Confirmar pedido" queda deshabilitado y "Pagar de contado" vuelve a cotizar de contado</a:t>
            </a:r>
          </a:p>
        </p:txBody>
      </p:sp>
      <p:pic>
        <p:nvPicPr>
          <p:cNvPr id="6" name="Image" descr="El resumen del pedido: líneas, totales y hasta cuándo se garantiza el precio"/>
          <p:cNvPicPr>
            <a:picLocks noChangeAspect="1"/>
          </p:cNvPicPr>
          <p:nvPr/>
        </p:nvPicPr>
        <p:blipFill>
          <a:blip r:embed="rId2"/>
          <a:stretch>
            <a:fillRect/>
          </a:stretch>
        </p:blipFill>
        <p:spPr>
          <a:xfrm>
            <a:off x="8978413" y="1508760"/>
            <a:ext cx="2403814" cy="4133090"/>
          </a:xfrm>
          <a:prstGeom prst="rect">
            <a:avLst/>
          </a:prstGeom>
          <a:ln w="9525">
            <a:solidFill>
              <a:srgbClr val="E2E8F0"/>
            </a:solidFill>
          </a:ln>
        </p:spPr>
      </p:pic>
      <p:sp>
        <p:nvSpPr>
          <p:cNvPr id="7" name="Caption"/>
          <p:cNvSpPr txBox="1"/>
          <p:nvPr/>
        </p:nvSpPr>
        <p:spPr>
          <a:xfrm>
            <a:off x="8717280" y="5715002"/>
            <a:ext cx="2926080" cy="365758"/>
          </a:xfrm>
          <a:prstGeom prst="rect">
            <a:avLst/>
          </a:prstGeom>
          <a:noFill/>
        </p:spPr>
        <p:txBody>
          <a:bodyPr wrap="square" anchor="t" lIns="0" rIns="0" tIns="0" bIns="0">
            <a:noAutofit/>
          </a:bodyPr>
          <a:lstStyle/>
          <a:p>
            <a:pPr algn="ctr"/>
            <a:r>
              <a:rPr sz="1200" b="0" lang="es-CO">
                <a:solidFill>
                  <a:srgbClr val="475569"/>
                </a:solidFill>
                <a:latin typeface="Arial"/>
              </a:rPr>
              <a:t>El resumen del pedido: líneas, totales y hasta cuándo se garantiza el precio</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Paso 3: leer las palancas en la cotización</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6956698" cy="3505200"/>
          </a:xfrm>
          <a:prstGeom prst="rect">
            <a:avLst/>
          </a:prstGeom>
          <a:noFill/>
        </p:spPr>
        <p:txBody>
          <a:bodyPr wrap="square" anchor="t" lIns="0" rIns="0" tIns="0" bIns="0">
            <a:noAutofit/>
          </a:bodyPr>
          <a:lstStyle/>
          <a:p>
            <a:pPr marL="215900" indent="-215900">
              <a:buClr>
                <a:srgbClr val="C2410C"/>
              </a:buClr>
              <a:buSzPct val="100000"/>
              <a:buFont typeface="Arial"/>
              <a:buChar char="•"/>
            </a:pPr>
            <a:r>
              <a:rPr sz="2000" b="0" lang="es-CO">
                <a:solidFill>
                  <a:srgbClr val="0F172A"/>
                </a:solidFill>
                <a:latin typeface="Arial"/>
              </a:rPr>
              <a:t>Cada descuento muestra su origen: "Descuento por volumen" para una escala, o "Combo"</a:t>
            </a:r>
          </a:p>
          <a:p>
            <a:pPr marL="215900" indent="-215900">
              <a:spcBef>
                <a:spcPts val="900"/>
              </a:spcBef>
              <a:buClr>
                <a:srgbClr val="C2410C"/>
              </a:buClr>
              <a:buSzPct val="100000"/>
              <a:buFont typeface="Arial"/>
              <a:buChar char="•"/>
            </a:pPr>
            <a:r>
              <a:rPr sz="2000" b="0" lang="es-CO">
                <a:solidFill>
                  <a:srgbClr val="0F172A"/>
                </a:solidFill>
                <a:latin typeface="Arial"/>
              </a:rPr>
              <a:t>Un combo es una sola entrada de descuento, y sus productos nunca muestran un descuento suelto</a:t>
            </a:r>
          </a:p>
          <a:p>
            <a:pPr marL="215900" indent="-215900">
              <a:spcBef>
                <a:spcPts val="900"/>
              </a:spcBef>
              <a:buClr>
                <a:srgbClr val="C2410C"/>
              </a:buClr>
              <a:buSzPct val="100000"/>
              <a:buFont typeface="Arial"/>
              <a:buChar char="•"/>
            </a:pPr>
            <a:r>
              <a:rPr sz="2000" b="0" lang="es-CO">
                <a:solidFill>
                  <a:srgbClr val="0F172A"/>
                </a:solidFill>
                <a:latin typeface="Arial"/>
              </a:rPr>
              <a:t>Una línea dentro de un combo muestra su "Parte del combo", que solo sirve para derivar su base gravable</a:t>
            </a:r>
          </a:p>
          <a:p>
            <a:pPr marL="215900" indent="-215900">
              <a:spcBef>
                <a:spcPts val="900"/>
              </a:spcBef>
              <a:buClr>
                <a:srgbClr val="C2410C"/>
              </a:buClr>
              <a:buSzPct val="100000"/>
              <a:buFont typeface="Arial"/>
              <a:buChar char="•"/>
            </a:pPr>
            <a:r>
              <a:rPr sz="2000" b="0" lang="es-CO">
                <a:solidFill>
                  <a:srgbClr val="0F172A"/>
                </a:solidFill>
                <a:latin typeface="Arial"/>
              </a:rPr>
              <a:t>Un obsequio es una línea aparte con su cantidad, sin costo, con su valor de referencia</a:t>
            </a:r>
          </a:p>
          <a:p>
            <a:pPr marL="215900" indent="-215900">
              <a:spcBef>
                <a:spcPts val="900"/>
              </a:spcBef>
              <a:buClr>
                <a:srgbClr val="C2410C"/>
              </a:buClr>
              <a:buSzPct val="100000"/>
              <a:buFont typeface="Arial"/>
              <a:buChar char="•"/>
            </a:pPr>
            <a:r>
              <a:rPr sz="2000" b="0" lang="es-CO">
                <a:solidFill>
                  <a:srgbClr val="0F172A"/>
                </a:solidFill>
                <a:latin typeface="Arial"/>
              </a:rPr>
              <a:t>La base gravable, los impuestos y el total cierran el desglose</a:t>
            </a:r>
          </a:p>
        </p:txBody>
      </p:sp>
      <p:pic>
        <p:nvPicPr>
          <p:cNvPr id="6" name="Image" descr="El desglose de la cotización con las palancas aplicadas"/>
          <p:cNvPicPr>
            <a:picLocks noChangeAspect="1"/>
          </p:cNvPicPr>
          <p:nvPr/>
        </p:nvPicPr>
        <p:blipFill>
          <a:blip r:embed="rId2"/>
          <a:stretch>
            <a:fillRect/>
          </a:stretch>
        </p:blipFill>
        <p:spPr>
          <a:xfrm>
            <a:off x="7951018" y="1508760"/>
            <a:ext cx="3612422" cy="4133090"/>
          </a:xfrm>
          <a:prstGeom prst="rect">
            <a:avLst/>
          </a:prstGeom>
          <a:ln w="9525">
            <a:solidFill>
              <a:srgbClr val="E2E8F0"/>
            </a:solidFill>
          </a:ln>
        </p:spPr>
      </p:pic>
      <p:sp>
        <p:nvSpPr>
          <p:cNvPr id="7" name="Caption"/>
          <p:cNvSpPr txBox="1"/>
          <p:nvPr/>
        </p:nvSpPr>
        <p:spPr>
          <a:xfrm>
            <a:off x="7871098" y="5715002"/>
            <a:ext cx="3772262" cy="365758"/>
          </a:xfrm>
          <a:prstGeom prst="rect">
            <a:avLst/>
          </a:prstGeom>
          <a:noFill/>
        </p:spPr>
        <p:txBody>
          <a:bodyPr wrap="square" anchor="t" lIns="0" rIns="0" tIns="0" bIns="0">
            <a:noAutofit/>
          </a:bodyPr>
          <a:lstStyle/>
          <a:p>
            <a:pPr algn="ctr"/>
            <a:r>
              <a:rPr sz="1200" b="0" lang="es-CO">
                <a:solidFill>
                  <a:srgbClr val="475569"/>
                </a:solidFill>
                <a:latin typeface="Arial"/>
              </a:rPr>
              <a:t>El desglose de la cotización con las palancas aplicadas</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Paso 4: confirmar el pedido</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4251960"/>
          </a:xfrm>
          <a:prstGeom prst="rect">
            <a:avLst/>
          </a:prstGeom>
          <a:noFill/>
        </p:spPr>
        <p:txBody>
          <a:bodyPr wrap="square" anchor="t" lIns="0" rIns="0" tIns="0" bIns="0">
            <a:noAutofit/>
          </a:bodyPr>
          <a:lstStyle/>
          <a:p>
            <a:pPr marL="194310" indent="-194310">
              <a:buClr>
                <a:srgbClr val="C2410C"/>
              </a:buClr>
              <a:buSzPct val="100000"/>
              <a:buFont typeface="Arial"/>
              <a:buChar char="•"/>
            </a:pPr>
            <a:r>
              <a:rPr sz="1800" b="0" lang="es-CO">
                <a:solidFill>
                  <a:srgbClr val="0F172A"/>
                </a:solidFill>
                <a:latin typeface="Arial"/>
              </a:rPr>
              <a:t>"Confirmar pedido" crea una clave de idempotencia para la cotización y la guarda en el navegador</a:t>
            </a:r>
          </a:p>
          <a:p>
            <a:pPr marL="194310" indent="-194310">
              <a:spcBef>
                <a:spcPts val="810"/>
              </a:spcBef>
              <a:buClr>
                <a:srgbClr val="C2410C"/>
              </a:buClr>
              <a:buSzPct val="100000"/>
              <a:buFont typeface="Arial"/>
              <a:buChar char="•"/>
            </a:pPr>
            <a:r>
              <a:rPr sz="1800" b="0" lang="es-CO">
                <a:solidFill>
                  <a:srgbClr val="0F172A"/>
                </a:solidFill>
                <a:latin typeface="Arial"/>
              </a:rPr>
              <a:t>El botón queda deshabilitado mientras la petición está en curso, así que un doble tap envía una sola petición</a:t>
            </a:r>
          </a:p>
          <a:p>
            <a:pPr marL="194310" indent="-194310">
              <a:spcBef>
                <a:spcPts val="810"/>
              </a:spcBef>
              <a:buClr>
                <a:srgbClr val="C2410C"/>
              </a:buClr>
              <a:buSzPct val="100000"/>
              <a:buFont typeface="Arial"/>
              <a:buChar char="•"/>
            </a:pPr>
            <a:r>
              <a:rPr sz="1800" b="0" lang="es-CO">
                <a:solidFill>
                  <a:srgbClr val="0F172A"/>
                </a:solidFill>
                <a:latin typeface="Arial"/>
              </a:rPr>
              <a:t>Un reintento tras no recibir respuesta, un 5xx o una recarga envía la misma clave</a:t>
            </a:r>
          </a:p>
          <a:p>
            <a:pPr marL="194310" indent="-194310">
              <a:spcBef>
                <a:spcPts val="810"/>
              </a:spcBef>
              <a:buClr>
                <a:srgbClr val="C2410C"/>
              </a:buClr>
              <a:buSzPct val="100000"/>
              <a:buFont typeface="Arial"/>
              <a:buChar char="•"/>
            </a:pPr>
            <a:r>
              <a:rPr sz="1800" b="0" lang="es-CO">
                <a:solidFill>
                  <a:srgbClr val="0F172A"/>
                </a:solidFill>
                <a:latin typeface="Arial"/>
              </a:rPr>
              <a:t>Un 201 abre el pedido con su número y el aviso "Pedido confirmado"</a:t>
            </a:r>
          </a:p>
          <a:p>
            <a:pPr marL="194310" indent="-194310">
              <a:spcBef>
                <a:spcPts val="810"/>
              </a:spcBef>
              <a:buClr>
                <a:srgbClr val="C2410C"/>
              </a:buClr>
              <a:buSzPct val="100000"/>
              <a:buFont typeface="Arial"/>
              <a:buChar char="•"/>
            </a:pPr>
            <a:r>
              <a:rPr sz="1800" b="0" lang="es-CO">
                <a:solidFill>
                  <a:srgbClr val="0F172A"/>
                </a:solidFill>
                <a:latin typeface="Arial"/>
              </a:rPr>
              <a:t>Un 201 repetido dice "Este pedido ya estaba registrado": ni un segundo pedido ni más cupo usado</a:t>
            </a:r>
          </a:p>
        </p:txBody>
      </p:sp>
      <p:pic>
        <p:nvPicPr>
          <p:cNvPr id="6" name="Image" descr="El pedido justo después de confirmarlo, con su número"/>
          <p:cNvPicPr>
            <a:picLocks noChangeAspect="1"/>
          </p:cNvPicPr>
          <p:nvPr/>
        </p:nvPicPr>
        <p:blipFill>
          <a:blip r:embed="rId2"/>
          <a:stretch>
            <a:fillRect/>
          </a:stretch>
        </p:blipFill>
        <p:spPr>
          <a:xfrm>
            <a:off x="5791200" y="1837944"/>
            <a:ext cx="5852160" cy="3657600"/>
          </a:xfrm>
          <a:prstGeom prst="rect">
            <a:avLst/>
          </a:prstGeom>
          <a:ln w="9525">
            <a:solidFill>
              <a:srgbClr val="E2E8F0"/>
            </a:solidFill>
          </a:ln>
        </p:spPr>
      </p:pic>
      <p:sp>
        <p:nvSpPr>
          <p:cNvPr id="7" name="Caption"/>
          <p:cNvSpPr txBox="1"/>
          <p:nvPr/>
        </p:nvSpPr>
        <p:spPr>
          <a:xfrm>
            <a:off x="5791200" y="5568696"/>
            <a:ext cx="5852160" cy="182879"/>
          </a:xfrm>
          <a:prstGeom prst="rect">
            <a:avLst/>
          </a:prstGeom>
          <a:noFill/>
        </p:spPr>
        <p:txBody>
          <a:bodyPr wrap="square" anchor="t" lIns="0" rIns="0" tIns="0" bIns="0">
            <a:noAutofit/>
          </a:bodyPr>
          <a:lstStyle/>
          <a:p>
            <a:pPr algn="ctr"/>
            <a:r>
              <a:rPr sz="1200" b="0" lang="es-CO">
                <a:solidFill>
                  <a:srgbClr val="475569"/>
                </a:solidFill>
                <a:latin typeface="Arial"/>
              </a:rPr>
              <a:t>El pedido justo después de confirmarlo, con su número</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Paso 5: encontrarlo en Mis pedidos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3977640"/>
          </a:xfrm>
          <a:prstGeom prst="rect">
            <a:avLst/>
          </a:prstGeom>
          <a:noFill/>
        </p:spPr>
        <p:txBody>
          <a:bodyPr wrap="square" anchor="t" lIns="0" rIns="0" tIns="0" bIns="0">
            <a:noAutofit/>
          </a:bodyPr>
          <a:lstStyle/>
          <a:p>
            <a:pPr marL="194310" indent="-194310">
              <a:buClr>
                <a:srgbClr val="C2410C"/>
              </a:buClr>
              <a:buSzPct val="100000"/>
              <a:buFont typeface="Arial"/>
              <a:buChar char="•"/>
            </a:pPr>
            <a:r>
              <a:rPr sz="1800" b="0" lang="es-CO">
                <a:solidFill>
                  <a:srgbClr val="0F172A"/>
                </a:solidFill>
                <a:latin typeface="Arial"/>
              </a:rPr>
              <a:t>Mis pedidos lee el historial desde la API en cada visita (</a:t>
            </a:r>
            <a:r>
              <a:rPr sz="1800" b="0" lang="es-CO">
                <a:solidFill>
                  <a:srgbClr val="C2410C"/>
                </a:solidFill>
                <a:latin typeface="Arial"/>
              </a:rPr>
              <a:t>GET /api/v1/orders?customerId=</a:t>
            </a:r>
            <a:r>
              <a:rPr sz="1800" b="0" lang="es-CO">
                <a:solidFill>
                  <a:srgbClr val="0F172A"/>
                </a:solidFill>
                <a:latin typeface="Arial"/>
              </a:rPr>
              <a:t>)</a:t>
            </a:r>
          </a:p>
          <a:p>
            <a:pPr marL="194310" indent="-194310">
              <a:spcBef>
                <a:spcPts val="810"/>
              </a:spcBef>
              <a:buClr>
                <a:srgbClr val="C2410C"/>
              </a:buClr>
              <a:buSzPct val="100000"/>
              <a:buFont typeface="Arial"/>
              <a:buChar char="•"/>
            </a:pPr>
            <a:r>
              <a:rPr sz="1800" b="0" lang="es-CO">
                <a:solidFill>
                  <a:srgbClr val="0F172A"/>
                </a:solidFill>
                <a:latin typeface="Arial"/>
              </a:rPr>
              <a:t>Del más reciente al más antiguo: número de pedido, fecha de confirmación y total con el código de su moneda</a:t>
            </a:r>
          </a:p>
          <a:p>
            <a:pPr marL="194310" indent="-194310">
              <a:spcBef>
                <a:spcPts val="810"/>
              </a:spcBef>
              <a:buClr>
                <a:srgbClr val="C2410C"/>
              </a:buClr>
              <a:buSzPct val="100000"/>
              <a:buFont typeface="Arial"/>
              <a:buChar char="•"/>
            </a:pPr>
            <a:r>
              <a:rPr sz="1800" b="0" lang="es-CO">
                <a:solidFill>
                  <a:srgbClr val="0F172A"/>
                </a:solidFill>
                <a:latin typeface="Arial"/>
              </a:rPr>
              <a:t>El pedido recién confirmado aparece primero, con el total confirmado</a:t>
            </a:r>
          </a:p>
          <a:p>
            <a:pPr marL="194310" indent="-194310">
              <a:spcBef>
                <a:spcPts val="810"/>
              </a:spcBef>
              <a:buClr>
                <a:srgbClr val="C2410C"/>
              </a:buClr>
              <a:buSzPct val="100000"/>
              <a:buFont typeface="Arial"/>
              <a:buChar char="•"/>
            </a:pPr>
            <a:r>
              <a:rPr sz="1800" b="0" lang="es-CO">
                <a:solidFill>
                  <a:srgbClr val="0F172A"/>
                </a:solidFill>
                <a:latin typeface="Arial"/>
              </a:rPr>
              <a:t>El cliente no guarda copia de ningún pedido, así que ninguna caché puede ocultar uno ya confirmado</a:t>
            </a:r>
          </a:p>
          <a:p>
            <a:pPr marL="194310" indent="-194310">
              <a:spcBef>
                <a:spcPts val="810"/>
              </a:spcBef>
              <a:buClr>
                <a:srgbClr val="C2410C"/>
              </a:buClr>
              <a:buSzPct val="100000"/>
              <a:buFont typeface="Arial"/>
              <a:buChar char="•"/>
            </a:pPr>
            <a:r>
              <a:rPr sz="1800" b="0" lang="es-CO">
                <a:solidFill>
                  <a:srgbClr val="0F172A"/>
                </a:solidFill>
                <a:latin typeface="Arial"/>
              </a:rPr>
              <a:t>Cada fila abre su pedido, que se arma a partir de su cotización sellada</a:t>
            </a:r>
          </a:p>
        </p:txBody>
      </p:sp>
      <p:pic>
        <p:nvPicPr>
          <p:cNvPr id="6" name="Image" descr="Mis pedidos, del más reciente al más antiguo"/>
          <p:cNvPicPr>
            <a:picLocks noChangeAspect="1"/>
          </p:cNvPicPr>
          <p:nvPr/>
        </p:nvPicPr>
        <p:blipFill>
          <a:blip r:embed="rId2"/>
          <a:stretch>
            <a:fillRect/>
          </a:stretch>
        </p:blipFill>
        <p:spPr>
          <a:xfrm>
            <a:off x="5791200" y="2315718"/>
            <a:ext cx="5852160" cy="2702052"/>
          </a:xfrm>
          <a:prstGeom prst="rect">
            <a:avLst/>
          </a:prstGeom>
          <a:ln w="9525">
            <a:solidFill>
              <a:srgbClr val="E2E8F0"/>
            </a:solidFill>
          </a:ln>
        </p:spPr>
      </p:pic>
      <p:sp>
        <p:nvSpPr>
          <p:cNvPr id="7" name="Caption"/>
          <p:cNvSpPr txBox="1"/>
          <p:nvPr/>
        </p:nvSpPr>
        <p:spPr>
          <a:xfrm>
            <a:off x="5791200" y="5090922"/>
            <a:ext cx="5852160" cy="182879"/>
          </a:xfrm>
          <a:prstGeom prst="rect">
            <a:avLst/>
          </a:prstGeom>
          <a:noFill/>
        </p:spPr>
        <p:txBody>
          <a:bodyPr wrap="square" anchor="t" lIns="0" rIns="0" tIns="0" bIns="0">
            <a:noAutofit/>
          </a:bodyPr>
          <a:lstStyle/>
          <a:p>
            <a:pPr algn="ctr"/>
            <a:r>
              <a:rPr sz="1200" b="0" lang="es-CO">
                <a:solidFill>
                  <a:srgbClr val="475569"/>
                </a:solidFill>
                <a:latin typeface="Arial"/>
              </a:rPr>
              <a:t>Mis pedidos, del más reciente al más antiguo</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El pipeline de precios y el orden de las palancas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16730"/>
          </a:xfrm>
          <a:prstGeom prst="rect">
            <a:avLst/>
          </a:prstGeom>
          <a:noFill/>
        </p:spPr>
        <p:txBody>
          <a:bodyPr wrap="square" anchor="t" lIns="0" rIns="0" tIns="0" bIns="0">
            <a:noAutofit/>
          </a:bodyPr>
          <a:lstStyle/>
          <a:p>
            <a:pPr marL="363220" indent="-363220">
              <a:buClr>
                <a:srgbClr val="C2410C"/>
              </a:buClr>
              <a:buSzPct val="100000"/>
              <a:buFont typeface="Arial"/>
              <a:buAutoNum type="arabicPeriod"/>
            </a:pPr>
            <a:r>
              <a:rPr sz="2200" b="0" lang="es-CO">
                <a:solidFill>
                  <a:srgbClr val="0F172A"/>
                </a:solidFill>
                <a:latin typeface="Arial"/>
              </a:rPr>
              <a:t>Elegibilidad de obsequios, sobre cantidades pagadas o el subtotal bruto antes de descuentos</a:t>
            </a:r>
          </a:p>
          <a:p>
            <a:pPr marL="363220" indent="-363220">
              <a:spcBef>
                <a:spcPts val="990"/>
              </a:spcBef>
              <a:buClr>
                <a:srgbClr val="C2410C"/>
              </a:buClr>
              <a:buSzPct val="100000"/>
              <a:buFont typeface="Arial"/>
              <a:buAutoNum type="arabicPeriod" startAt="2"/>
            </a:pPr>
            <a:r>
              <a:rPr sz="2200" b="0" lang="es-CO">
                <a:solidFill>
                  <a:srgbClr val="0F172A"/>
                </a:solidFill>
                <a:latin typeface="Arial"/>
              </a:rPr>
              <a:t>Los combos consumen primero sus unidades: una entrada </a:t>
            </a:r>
            <a:r>
              <a:rPr sz="2200" b="0" lang="es-CO">
                <a:solidFill>
                  <a:srgbClr val="C2410C"/>
                </a:solidFill>
                <a:latin typeface="Arial"/>
              </a:rPr>
              <a:t>COMBO</a:t>
            </a:r>
            <a:r>
              <a:rPr sz="2200" b="0" lang="es-CO">
                <a:solidFill>
                  <a:srgbClr val="0F172A"/>
                </a:solidFill>
                <a:latin typeface="Arial"/>
              </a:rPr>
              <a:t>, nunca un segundo descuento sobre esas unidades</a:t>
            </a:r>
          </a:p>
          <a:p>
            <a:pPr marL="363220" indent="-363220">
              <a:spcBef>
                <a:spcPts val="990"/>
              </a:spcBef>
              <a:buClr>
                <a:srgbClr val="C2410C"/>
              </a:buClr>
              <a:buSzPct val="100000"/>
              <a:buFont typeface="Arial"/>
              <a:buAutoNum type="arabicPeriod" startAt="3"/>
            </a:pPr>
            <a:r>
              <a:rPr sz="2200" b="0" lang="es-CO">
                <a:solidFill>
                  <a:srgbClr val="0F172A"/>
                </a:solidFill>
                <a:latin typeface="Arial"/>
              </a:rPr>
              <a:t>Descuentos por escala en tramos marginales, sobre las unidades que no consumió un combo</a:t>
            </a:r>
          </a:p>
          <a:p>
            <a:pPr marL="363220" indent="-363220">
              <a:spcBef>
                <a:spcPts val="990"/>
              </a:spcBef>
              <a:buClr>
                <a:srgbClr val="C2410C"/>
              </a:buClr>
              <a:buSzPct val="100000"/>
              <a:buFont typeface="Arial"/>
              <a:buAutoNum type="arabicPeriod" startAt="4"/>
            </a:pPr>
            <a:r>
              <a:rPr sz="2200" b="0" lang="es-CO">
                <a:solidFill>
                  <a:srgbClr val="0F172A"/>
                </a:solidFill>
                <a:latin typeface="Arial"/>
              </a:rPr>
              <a:t>Neto de línea = bruto − descuentos, y luego la base gravable</a:t>
            </a:r>
          </a:p>
          <a:p>
            <a:pPr marL="363220" indent="-363220">
              <a:spcBef>
                <a:spcPts val="990"/>
              </a:spcBef>
              <a:buClr>
                <a:srgbClr val="C2410C"/>
              </a:buClr>
              <a:buSzPct val="100000"/>
              <a:buFont typeface="Arial"/>
              <a:buAutoNum type="arabicPeriod" startAt="5"/>
            </a:pPr>
            <a:r>
              <a:rPr sz="2200" b="0" lang="es-CO">
                <a:solidFill>
                  <a:srgbClr val="0F172A"/>
                </a:solidFill>
                <a:latin typeface="Arial"/>
              </a:rPr>
              <a:t>Impuesto por línea con la tasa de cada SKU, y luego total = Σ neto + impuestos</a:t>
            </a:r>
          </a:p>
          <a:p>
            <a:pPr marL="363220" indent="-363220">
              <a:spcBef>
                <a:spcPts val="990"/>
              </a:spcBef>
              <a:buClr>
                <a:srgbClr val="C2410C"/>
              </a:buClr>
              <a:buSzPct val="100000"/>
              <a:buFont typeface="Arial"/>
              <a:buAutoNum type="arabicPeriod" startAt="6"/>
            </a:pPr>
            <a:r>
              <a:rPr sz="2200" b="0" lang="es-CO">
                <a:solidFill>
                  <a:srgbClr val="0F172A"/>
                </a:solidFill>
                <a:latin typeface="Arial"/>
              </a:rPr>
              <a:t>Verificación de cupo sobre el total final, en la capa de aplicación, fuera del motor puro</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El pipeline de precios de un vistazo</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Image" descr="El pipeline de precios: el orden en que se aplican las palancas"/>
          <p:cNvPicPr>
            <a:picLocks noChangeAspect="1"/>
          </p:cNvPicPr>
          <p:nvPr/>
        </p:nvPicPr>
        <p:blipFill>
          <a:blip r:embed="rId2"/>
          <a:stretch>
            <a:fillRect/>
          </a:stretch>
        </p:blipFill>
        <p:spPr>
          <a:xfrm>
            <a:off x="1027246" y="1508760"/>
            <a:ext cx="10137508" cy="4315969"/>
          </a:xfrm>
          <a:prstGeom prst="rect">
            <a:avLst/>
          </a:prstGeom>
          <a:ln w="9525">
            <a:solidFill>
              <a:srgbClr val="E2E8F0"/>
            </a:solidFill>
          </a:ln>
        </p:spPr>
      </p:pic>
      <p:sp>
        <p:nvSpPr>
          <p:cNvPr id="6" name="Caption"/>
          <p:cNvSpPr txBox="1"/>
          <p:nvPr/>
        </p:nvSpPr>
        <p:spPr>
          <a:xfrm>
            <a:off x="548640" y="5897881"/>
            <a:ext cx="11094720" cy="182879"/>
          </a:xfrm>
          <a:prstGeom prst="rect">
            <a:avLst/>
          </a:prstGeom>
          <a:noFill/>
        </p:spPr>
        <p:txBody>
          <a:bodyPr wrap="square" anchor="t" lIns="0" rIns="0" tIns="0" bIns="0">
            <a:noAutofit/>
          </a:bodyPr>
          <a:lstStyle/>
          <a:p>
            <a:pPr algn="ctr"/>
            <a:r>
              <a:rPr sz="1200" b="0" lang="es-CO">
                <a:solidFill>
                  <a:srgbClr val="475569"/>
                </a:solidFill>
                <a:latin typeface="Arial"/>
              </a:rPr>
              <a:t>El pipeline de precios: el orden en que se aplican las palancas</a:t>
            </a:r>
          </a:p>
        </p:txBody>
      </p:sp>
      <p:sp>
        <p:nvSpPr>
          <p:cNvPr id="7"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9"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Dinero y redondeo</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64617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s-CO">
                <a:solidFill>
                  <a:srgbClr val="C2410C"/>
                </a:solidFill>
                <a:latin typeface="Arial"/>
              </a:rPr>
              <a:t>Money</a:t>
            </a:r>
            <a:r>
              <a:rPr sz="2200" b="0" lang="es-CO">
                <a:solidFill>
                  <a:srgbClr val="0F172A"/>
                </a:solidFill>
                <a:latin typeface="Arial"/>
              </a:rPr>
              <a:t> envuelve un </a:t>
            </a:r>
            <a:r>
              <a:rPr sz="2200" b="0" lang="es-CO">
                <a:solidFill>
                  <a:srgbClr val="C2410C"/>
                </a:solidFill>
                <a:latin typeface="Arial"/>
              </a:rPr>
              <a:t>BigDecimal</a:t>
            </a:r>
            <a:r>
              <a:rPr sz="2200" b="0" lang="es-CO">
                <a:solidFill>
                  <a:srgbClr val="0F172A"/>
                </a:solidFill>
                <a:latin typeface="Arial"/>
              </a:rPr>
              <a:t>; una prueba de arquitectura prohíbe </a:t>
            </a:r>
            <a:r>
              <a:rPr sz="2200" b="0" lang="es-CO">
                <a:solidFill>
                  <a:srgbClr val="C2410C"/>
                </a:solidFill>
                <a:latin typeface="Arial"/>
              </a:rPr>
              <a:t>float</a:t>
            </a:r>
            <a:r>
              <a:rPr sz="2200" b="0" lang="es-CO">
                <a:solidFill>
                  <a:srgbClr val="0F172A"/>
                </a:solidFill>
                <a:latin typeface="Arial"/>
              </a:rPr>
              <a:t> y </a:t>
            </a:r>
            <a:r>
              <a:rPr sz="2200" b="0" lang="es-CO">
                <a:solidFill>
                  <a:srgbClr val="C2410C"/>
                </a:solidFill>
                <a:latin typeface="Arial"/>
              </a:rPr>
              <a:t>double</a:t>
            </a:r>
            <a:r>
              <a:rPr sz="2200" b="0" lang="es-CO">
                <a:solidFill>
                  <a:srgbClr val="0F172A"/>
                </a:solidFill>
                <a:latin typeface="Arial"/>
              </a:rPr>
              <a:t> en el dominio</a:t>
            </a:r>
          </a:p>
          <a:p>
            <a:pPr marL="237490" indent="-237490">
              <a:spcBef>
                <a:spcPts val="990"/>
              </a:spcBef>
              <a:buClr>
                <a:srgbClr val="C2410C"/>
              </a:buClr>
              <a:buSzPct val="100000"/>
              <a:buFont typeface="Arial"/>
              <a:buChar char="•"/>
            </a:pPr>
            <a:r>
              <a:rPr sz="2200" b="0" lang="es-CO">
                <a:solidFill>
                  <a:srgbClr val="0F172A"/>
                </a:solidFill>
                <a:latin typeface="Arial"/>
              </a:rPr>
              <a:t>La escala y el modo de redondeo salen de los datos del país: COP escala 0, USD escala 2, </a:t>
            </a:r>
            <a:r>
              <a:rPr sz="2200" b="0" lang="es-CO">
                <a:solidFill>
                  <a:srgbClr val="C2410C"/>
                </a:solidFill>
                <a:latin typeface="Arial"/>
              </a:rPr>
              <a:t>HALF_UP</a:t>
            </a:r>
          </a:p>
          <a:p>
            <a:pPr marL="237490" indent="-237490">
              <a:spcBef>
                <a:spcPts val="990"/>
              </a:spcBef>
              <a:buClr>
                <a:srgbClr val="C2410C"/>
              </a:buClr>
              <a:buSzPct val="100000"/>
              <a:buFont typeface="Arial"/>
              <a:buChar char="•"/>
            </a:pPr>
            <a:r>
              <a:rPr sz="2200" b="0" lang="es-CO">
                <a:solidFill>
                  <a:srgbClr val="0F172A"/>
                </a:solidFill>
                <a:latin typeface="Arial"/>
              </a:rPr>
              <a:t>Nunca de </a:t>
            </a:r>
            <a:r>
              <a:rPr sz="2200" b="0" lang="es-CO">
                <a:solidFill>
                  <a:srgbClr val="C2410C"/>
                </a:solidFill>
                <a:latin typeface="Arial"/>
              </a:rPr>
              <a:t>java.util.Currency</a:t>
            </a:r>
            <a:r>
              <a:rPr sz="2200" b="0" lang="es-CO">
                <a:solidFill>
                  <a:srgbClr val="0F172A"/>
                </a:solidFill>
                <a:latin typeface="Arial"/>
              </a:rPr>
              <a:t>, que reporta COP con dos decimales</a:t>
            </a:r>
          </a:p>
          <a:p>
            <a:pPr marL="237490" indent="-237490">
              <a:spcBef>
                <a:spcPts val="990"/>
              </a:spcBef>
              <a:buClr>
                <a:srgbClr val="C2410C"/>
              </a:buClr>
              <a:buSzPct val="100000"/>
              <a:buFont typeface="Arial"/>
              <a:buChar char="•"/>
            </a:pPr>
            <a:r>
              <a:rPr sz="2200" b="0" lang="es-CO">
                <a:solidFill>
                  <a:srgbClr val="0F172A"/>
                </a:solidFill>
                <a:latin typeface="Arial"/>
              </a:rPr>
              <a:t>Solo se redondea por línea: cada componente de descuento y cada impuesto</a:t>
            </a:r>
          </a:p>
          <a:p>
            <a:pPr marL="237490" indent="-237490">
              <a:spcBef>
                <a:spcPts val="990"/>
              </a:spcBef>
              <a:buClr>
                <a:srgbClr val="C2410C"/>
              </a:buClr>
              <a:buSzPct val="100000"/>
              <a:buFont typeface="Arial"/>
              <a:buChar char="•"/>
            </a:pPr>
            <a:r>
              <a:rPr sz="2200" b="0" lang="es-CO">
                <a:solidFill>
                  <a:srgbClr val="0F172A"/>
                </a:solidFill>
                <a:latin typeface="Arial"/>
              </a:rPr>
              <a:t>Los totales son sumas de líneas ya redondeadas y nunca se vuelven a redondear</a:t>
            </a:r>
          </a:p>
          <a:p>
            <a:pPr marL="237490" indent="-237490">
              <a:spcBef>
                <a:spcPts val="990"/>
              </a:spcBef>
              <a:buClr>
                <a:srgbClr val="C2410C"/>
              </a:buClr>
              <a:buSzPct val="100000"/>
              <a:buFont typeface="Arial"/>
              <a:buChar char="•"/>
            </a:pPr>
            <a:r>
              <a:rPr sz="2200" b="0" lang="es-CO">
                <a:solidFill>
                  <a:srgbClr val="0F172A"/>
                </a:solidFill>
                <a:latin typeface="Arial"/>
              </a:rPr>
              <a:t>En la API, el dinero es un string JSON con la escala de la moneda, nunca un número</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Cotización = confirmación</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4114800"/>
          </a:xfrm>
          <a:prstGeom prst="rect">
            <a:avLst/>
          </a:prstGeom>
          <a:noFill/>
        </p:spPr>
        <p:txBody>
          <a:bodyPr wrap="square" anchor="t" lIns="0" rIns="0" tIns="0" bIns="0">
            <a:noAutofit/>
          </a:bodyPr>
          <a:lstStyle/>
          <a:p>
            <a:pPr marL="172720" indent="-172720">
              <a:buClr>
                <a:srgbClr val="C2410C"/>
              </a:buClr>
              <a:buSzPct val="100000"/>
              <a:buFont typeface="Arial"/>
              <a:buChar char="•"/>
            </a:pPr>
            <a:r>
              <a:rPr sz="1600" b="0" lang="es-CO">
                <a:solidFill>
                  <a:srgbClr val="0F172A"/>
                </a:solidFill>
                <a:latin typeface="Arial"/>
              </a:rPr>
              <a:t>La cotización queda sellada: sus líneas y componentes de descuento solo se insertan</a:t>
            </a:r>
          </a:p>
          <a:p>
            <a:pPr marL="172720" indent="-172720">
              <a:spcBef>
                <a:spcPts val="720"/>
              </a:spcBef>
              <a:buClr>
                <a:srgbClr val="C2410C"/>
              </a:buClr>
              <a:buSzPct val="100000"/>
              <a:buFont typeface="Arial"/>
              <a:buChar char="•"/>
            </a:pPr>
            <a:r>
              <a:rPr sz="1600" b="0" lang="es-CO">
                <a:solidFill>
                  <a:srgbClr val="0F172A"/>
                </a:solidFill>
                <a:latin typeface="Arial"/>
              </a:rPr>
              <a:t>Cada línea guarda el precio y la tasa de impuesto vigentes al cotizar</a:t>
            </a:r>
          </a:p>
          <a:p>
            <a:pPr marL="172720" indent="-172720">
              <a:spcBef>
                <a:spcPts val="720"/>
              </a:spcBef>
              <a:buClr>
                <a:srgbClr val="C2410C"/>
              </a:buClr>
              <a:buSzPct val="100000"/>
              <a:buFont typeface="Arial"/>
              <a:buChar char="•"/>
            </a:pPr>
            <a:r>
              <a:rPr sz="1600" b="0" lang="es-CO">
                <a:solidFill>
                  <a:srgbClr val="0F172A"/>
                </a:solidFill>
                <a:latin typeface="Arial"/>
              </a:rPr>
              <a:t>El pedido no guarda ningún monto: referencia la cotización, así que cada cifra existe una sola vez</a:t>
            </a:r>
          </a:p>
          <a:p>
            <a:pPr marL="172720" indent="-172720">
              <a:spcBef>
                <a:spcPts val="720"/>
              </a:spcBef>
              <a:buClr>
                <a:srgbClr val="C2410C"/>
              </a:buClr>
              <a:buSzPct val="100000"/>
              <a:buFont typeface="Arial"/>
              <a:buChar char="•"/>
            </a:pPr>
            <a:r>
              <a:rPr sz="1600" b="0" lang="es-CO">
                <a:solidFill>
                  <a:srgbClr val="0F172A"/>
                </a:solidFill>
                <a:latin typeface="Arial"/>
              </a:rPr>
              <a:t>La confirmación nunca vuelve a ejecutar el motor, así que un cambio posterior de precios o palancas no llega al pedido</a:t>
            </a:r>
          </a:p>
          <a:p>
            <a:pPr marL="172720" indent="-172720">
              <a:spcBef>
                <a:spcPts val="720"/>
              </a:spcBef>
              <a:buClr>
                <a:srgbClr val="C2410C"/>
              </a:buClr>
              <a:buSzPct val="100000"/>
              <a:buFont typeface="Arial"/>
              <a:buChar char="•"/>
            </a:pPr>
            <a:r>
              <a:rPr sz="1600" b="0" lang="es-CO">
                <a:solidFill>
                  <a:srgbClr val="0F172A"/>
                </a:solidFill>
                <a:latin typeface="Arial"/>
              </a:rPr>
              <a:t>Compromiso: una cotización abierta conserva su precio hasta vencer, como máximo 15 minutos</a:t>
            </a:r>
          </a:p>
          <a:p>
            <a:pPr marL="172720" indent="-172720">
              <a:spcBef>
                <a:spcPts val="720"/>
              </a:spcBef>
              <a:buClr>
                <a:srgbClr val="C2410C"/>
              </a:buClr>
              <a:buSzPct val="100000"/>
              <a:buFont typeface="Arial"/>
              <a:buChar char="•"/>
            </a:pPr>
            <a:r>
              <a:rPr sz="1600" b="0" lang="es-CO">
                <a:solidFill>
                  <a:srgbClr val="0F172A"/>
                </a:solidFill>
                <a:latin typeface="Arial"/>
              </a:rPr>
              <a:t>El golden test 6 cambia un precio y desactiva una palanca entre ambos momentos: mismo total, y una cotización nueva difiere</a:t>
            </a:r>
          </a:p>
        </p:txBody>
      </p:sp>
      <p:pic>
        <p:nvPicPr>
          <p:cNvPr id="6" name="Image" descr="Cotización: el precio se calcula una vez y se sella"/>
          <p:cNvPicPr>
            <a:picLocks noChangeAspect="1"/>
          </p:cNvPicPr>
          <p:nvPr/>
        </p:nvPicPr>
        <p:blipFill>
          <a:blip r:embed="rId2"/>
          <a:stretch>
            <a:fillRect/>
          </a:stretch>
        </p:blipFill>
        <p:spPr>
          <a:xfrm>
            <a:off x="5791200" y="2001906"/>
            <a:ext cx="5852160" cy="3329677"/>
          </a:xfrm>
          <a:prstGeom prst="rect">
            <a:avLst/>
          </a:prstGeom>
          <a:ln w="9525">
            <a:solidFill>
              <a:srgbClr val="E2E8F0"/>
            </a:solidFill>
          </a:ln>
        </p:spPr>
      </p:pic>
      <p:sp>
        <p:nvSpPr>
          <p:cNvPr id="7" name="Caption"/>
          <p:cNvSpPr txBox="1"/>
          <p:nvPr/>
        </p:nvSpPr>
        <p:spPr>
          <a:xfrm>
            <a:off x="5791200" y="5404735"/>
            <a:ext cx="5852160" cy="182879"/>
          </a:xfrm>
          <a:prstGeom prst="rect">
            <a:avLst/>
          </a:prstGeom>
          <a:noFill/>
        </p:spPr>
        <p:txBody>
          <a:bodyPr wrap="square" anchor="t" lIns="0" rIns="0" tIns="0" bIns="0">
            <a:noAutofit/>
          </a:bodyPr>
          <a:lstStyle/>
          <a:p>
            <a:pPr algn="ctr"/>
            <a:r>
              <a:rPr sz="1200" b="0" lang="es-CO">
                <a:solidFill>
                  <a:srgbClr val="475569"/>
                </a:solidFill>
                <a:latin typeface="Arial"/>
              </a:rPr>
              <a:t>Cotización: el precio se calcula una vez y se sella</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La confirmación idempotente en una transacción</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4876800" cy="4354830"/>
          </a:xfrm>
          <a:prstGeom prst="rect">
            <a:avLst/>
          </a:prstGeom>
          <a:noFill/>
        </p:spPr>
        <p:txBody>
          <a:bodyPr wrap="square" anchor="t" lIns="0" rIns="0" tIns="0" bIns="0">
            <a:noAutofit/>
          </a:bodyPr>
          <a:lstStyle/>
          <a:p>
            <a:pPr marL="297180" indent="-297180">
              <a:buClr>
                <a:srgbClr val="C2410C"/>
              </a:buClr>
              <a:buSzPct val="100000"/>
              <a:buFont typeface="Arial"/>
              <a:buAutoNum type="arabicPeriod"/>
            </a:pPr>
            <a:r>
              <a:rPr sz="1800" b="0" lang="es-CO">
                <a:solidFill>
                  <a:srgbClr val="0F172A"/>
                </a:solidFill>
                <a:latin typeface="Arial"/>
              </a:rPr>
              <a:t>Insertar la clave de idempotencia; una petición concurrente con la misma clave espera por ella</a:t>
            </a:r>
          </a:p>
          <a:p>
            <a:pPr marL="297180" indent="-297180">
              <a:spcBef>
                <a:spcPts val="810"/>
              </a:spcBef>
              <a:buClr>
                <a:srgbClr val="C2410C"/>
              </a:buClr>
              <a:buSzPct val="100000"/>
              <a:buFont typeface="Arial"/>
              <a:buAutoNum type="arabicPeriod" startAt="2"/>
            </a:pPr>
            <a:r>
              <a:rPr sz="1800" b="0" lang="es-CO">
                <a:solidFill>
                  <a:srgbClr val="0F172A"/>
                </a:solidFill>
                <a:latin typeface="Arial"/>
              </a:rPr>
              <a:t>Bloquear la cotización y verificar su dueño, que aún no tenga pedido y que no haya vencido</a:t>
            </a:r>
          </a:p>
          <a:p>
            <a:pPr marL="297180" indent="-297180">
              <a:spcBef>
                <a:spcPts val="810"/>
              </a:spcBef>
              <a:buClr>
                <a:srgbClr val="C2410C"/>
              </a:buClr>
              <a:buSzPct val="100000"/>
              <a:buFont typeface="Arial"/>
              <a:buAutoNum type="arabicPeriod" startAt="3"/>
            </a:pPr>
            <a:r>
              <a:rPr sz="1800" b="0" lang="es-CO">
                <a:solidFill>
                  <a:srgbClr val="0F172A"/>
                </a:solidFill>
                <a:latin typeface="Arial"/>
              </a:rPr>
              <a:t>A crédito, una actualización condicional que nunca supera el cupo</a:t>
            </a:r>
          </a:p>
          <a:p>
            <a:pPr marL="297180" indent="-297180">
              <a:spcBef>
                <a:spcPts val="810"/>
              </a:spcBef>
              <a:buClr>
                <a:srgbClr val="C2410C"/>
              </a:buClr>
              <a:buSzPct val="100000"/>
              <a:buFont typeface="Arial"/>
              <a:buAutoNum type="arabicPeriod" startAt="4"/>
            </a:pPr>
            <a:r>
              <a:rPr sz="1800" b="0" lang="es-CO">
                <a:solidFill>
                  <a:srgbClr val="0F172A"/>
                </a:solidFill>
                <a:latin typeface="Arial"/>
              </a:rPr>
              <a:t>Insertar el pedido (sin montos), su fila del libro de cupo si es a crédito, y los eventos del outbox para push y ERP</a:t>
            </a:r>
          </a:p>
          <a:p>
            <a:pPr marL="297180" indent="-297180">
              <a:spcBef>
                <a:spcPts val="810"/>
              </a:spcBef>
              <a:buClr>
                <a:srgbClr val="C2410C"/>
              </a:buClr>
              <a:buSzPct val="100000"/>
              <a:buFont typeface="Arial"/>
              <a:buAutoNum type="arabicPeriod" startAt="5"/>
            </a:pPr>
            <a:r>
              <a:rPr sz="1800" b="0" lang="es-CO">
                <a:solidFill>
                  <a:srgbClr val="0F172A"/>
                </a:solidFill>
                <a:latin typeface="Arial"/>
              </a:rPr>
              <a:t>Guardar el cuerpo del 201 en la clave y hacer commit</a:t>
            </a:r>
          </a:p>
          <a:p>
            <a:pPr marL="297180" indent="-297180">
              <a:spcBef>
                <a:spcPts val="810"/>
              </a:spcBef>
              <a:buClr>
                <a:srgbClr val="C2410C"/>
              </a:buClr>
              <a:buSzPct val="100000"/>
              <a:buFont typeface="Arial"/>
              <a:buAutoNum type="arabicPeriod" startAt="6"/>
            </a:pPr>
            <a:r>
              <a:rPr sz="1800" b="0" lang="es-CO">
                <a:solidFill>
                  <a:srgbClr val="0F172A"/>
                </a:solidFill>
                <a:latin typeface="Arial"/>
              </a:rPr>
              <a:t>Solo después del commit se envía el 201</a:t>
            </a:r>
          </a:p>
        </p:txBody>
      </p:sp>
      <p:pic>
        <p:nvPicPr>
          <p:cNvPr id="6" name="Image" descr="Confirmación: una transacción, y la respuesta solo después del commit"/>
          <p:cNvPicPr>
            <a:picLocks noChangeAspect="1"/>
          </p:cNvPicPr>
          <p:nvPr/>
        </p:nvPicPr>
        <p:blipFill>
          <a:blip r:embed="rId2"/>
          <a:stretch>
            <a:fillRect/>
          </a:stretch>
        </p:blipFill>
        <p:spPr>
          <a:xfrm>
            <a:off x="5791200" y="1598309"/>
            <a:ext cx="5852160" cy="4136871"/>
          </a:xfrm>
          <a:prstGeom prst="rect">
            <a:avLst/>
          </a:prstGeom>
          <a:ln w="9525">
            <a:solidFill>
              <a:srgbClr val="E2E8F0"/>
            </a:solidFill>
          </a:ln>
        </p:spPr>
      </p:pic>
      <p:sp>
        <p:nvSpPr>
          <p:cNvPr id="7" name="Caption"/>
          <p:cNvSpPr txBox="1"/>
          <p:nvPr/>
        </p:nvSpPr>
        <p:spPr>
          <a:xfrm>
            <a:off x="5791200" y="5808332"/>
            <a:ext cx="5852160" cy="182879"/>
          </a:xfrm>
          <a:prstGeom prst="rect">
            <a:avLst/>
          </a:prstGeom>
          <a:noFill/>
        </p:spPr>
        <p:txBody>
          <a:bodyPr wrap="square" anchor="t" lIns="0" rIns="0" tIns="0" bIns="0">
            <a:noAutofit/>
          </a:bodyPr>
          <a:lstStyle/>
          <a:p>
            <a:pPr algn="ctr"/>
            <a:r>
              <a:rPr sz="1200" b="0" lang="es-CO">
                <a:solidFill>
                  <a:srgbClr val="475569"/>
                </a:solidFill>
                <a:latin typeface="Arial"/>
              </a:rPr>
              <a:t>Confirmación: una transacción, y la respuesta solo después del commit</a:t>
            </a:r>
          </a:p>
        </p:txBody>
      </p:sp>
      <p:sp>
        <p:nvSpPr>
          <p:cNvPr id="8"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10"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2600" b="1" lang="es-CO">
                <a:solidFill>
                  <a:srgbClr val="0F172A"/>
                </a:solidFill>
                <a:latin typeface="Arial"/>
              </a:rPr>
              <a:t>El outbox: efectos que no se pierden ni se aplican dos veces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1673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s-CO">
                <a:solidFill>
                  <a:srgbClr val="0F172A"/>
                </a:solidFill>
                <a:latin typeface="Arial"/>
              </a:rPr>
              <a:t>La transacción del pedido escribe un evento del outbox para el push y otro para el ERP</a:t>
            </a:r>
          </a:p>
          <a:p>
            <a:pPr marL="237490" indent="-237490">
              <a:spcBef>
                <a:spcPts val="990"/>
              </a:spcBef>
              <a:buClr>
                <a:srgbClr val="C2410C"/>
              </a:buClr>
              <a:buSzPct val="100000"/>
              <a:buFont typeface="Arial"/>
              <a:buChar char="•"/>
            </a:pPr>
            <a:r>
              <a:rPr sz="2200" b="0" lang="es-CO">
                <a:solidFill>
                  <a:srgbClr val="0F172A"/>
                </a:solidFill>
                <a:latin typeface="Arial"/>
              </a:rPr>
              <a:t>Cada segundo, el relay reclama los eventos pendientes con </a:t>
            </a:r>
            <a:r>
              <a:rPr sz="2200" b="0" lang="es-CO">
                <a:solidFill>
                  <a:srgbClr val="C2410C"/>
                </a:solidFill>
                <a:latin typeface="Arial"/>
              </a:rPr>
              <a:t>FOR UPDATE SKIP LOCKED</a:t>
            </a:r>
            <a:r>
              <a:rPr sz="2200" b="0" lang="es-CO">
                <a:solidFill>
                  <a:srgbClr val="0F172A"/>
                </a:solidFill>
                <a:latin typeface="Arial"/>
              </a:rPr>
              <a:t> bajo un lease de 30 segundos</a:t>
            </a:r>
          </a:p>
          <a:p>
            <a:pPr marL="237490" indent="-237490">
              <a:spcBef>
                <a:spcPts val="990"/>
              </a:spcBef>
              <a:buClr>
                <a:srgbClr val="C2410C"/>
              </a:buClr>
              <a:buSzPct val="100000"/>
              <a:buFont typeface="Arial"/>
              <a:buChar char="•"/>
            </a:pPr>
            <a:r>
              <a:rPr sz="2200" b="0" lang="es-CO">
                <a:solidFill>
                  <a:srgbClr val="0F172A"/>
                </a:solidFill>
                <a:latin typeface="Arial"/>
              </a:rPr>
              <a:t>Llama al push o al ERP fuera de toda transacción, y les pasa el </a:t>
            </a:r>
            <a:r>
              <a:rPr sz="2200" b="0" lang="es-CO">
                <a:solidFill>
                  <a:srgbClr val="C2410C"/>
                </a:solidFill>
                <a:latin typeface="Arial"/>
              </a:rPr>
              <a:t>event_id</a:t>
            </a:r>
          </a:p>
          <a:p>
            <a:pPr marL="237490" indent="-237490">
              <a:spcBef>
                <a:spcPts val="990"/>
              </a:spcBef>
              <a:buClr>
                <a:srgbClr val="C2410C"/>
              </a:buClr>
              <a:buSzPct val="100000"/>
              <a:buFont typeface="Arial"/>
              <a:buChar char="•"/>
            </a:pPr>
            <a:r>
              <a:rPr sz="2200" b="0" lang="es-CO">
                <a:solidFill>
                  <a:srgbClr val="0F172A"/>
                </a:solidFill>
                <a:latin typeface="Arial"/>
              </a:rPr>
              <a:t>Un fallo se reintenta con backoff exponencial y jitter completo, con un techo que va de 2 segundos a 5 minutos</a:t>
            </a:r>
          </a:p>
          <a:p>
            <a:pPr marL="237490" indent="-237490">
              <a:spcBef>
                <a:spcPts val="990"/>
              </a:spcBef>
              <a:buClr>
                <a:srgbClr val="C2410C"/>
              </a:buClr>
              <a:buSzPct val="100000"/>
              <a:buFont typeface="Arial"/>
              <a:buChar char="•"/>
            </a:pPr>
            <a:r>
              <a:rPr sz="2200" b="0" lang="es-CO">
                <a:solidFill>
                  <a:srgbClr val="0F172A"/>
                </a:solidFill>
                <a:latin typeface="Arial"/>
              </a:rPr>
              <a:t>Tras 8 intentos, o ante un error que reintentar no corrige, el evento pasa a </a:t>
            </a:r>
            <a:r>
              <a:rPr sz="2200" b="0" lang="es-CO">
                <a:solidFill>
                  <a:srgbClr val="C2410C"/>
                </a:solidFill>
                <a:latin typeface="Arial"/>
              </a:rPr>
              <a:t>DEAD</a:t>
            </a:r>
            <a:r>
              <a:rPr sz="2200" b="0" lang="es-CO">
                <a:solidFill>
                  <a:srgbClr val="0F172A"/>
                </a:solidFill>
                <a:latin typeface="Arial"/>
              </a:rPr>
              <a:t> y se cuenta en </a:t>
            </a:r>
            <a:r>
              <a:rPr sz="2200" b="0" lang="es-CO">
                <a:solidFill>
                  <a:srgbClr val="C2410C"/>
                </a:solidFill>
                <a:latin typeface="Arial"/>
              </a:rPr>
              <a:t>outbox_dead</a:t>
            </a:r>
          </a:p>
          <a:p>
            <a:pPr marL="237490" indent="-237490">
              <a:spcBef>
                <a:spcPts val="990"/>
              </a:spcBef>
              <a:buClr>
                <a:srgbClr val="C2410C"/>
              </a:buClr>
              <a:buSzPct val="100000"/>
              <a:buFont typeface="Arial"/>
              <a:buChar char="•"/>
            </a:pPr>
            <a:r>
              <a:rPr sz="2200" b="0" lang="es-CO">
                <a:solidFill>
                  <a:srgbClr val="0F172A"/>
                </a:solidFill>
                <a:latin typeface="Arial"/>
              </a:rPr>
              <a:t>Los consumidores deduplican por </a:t>
            </a:r>
            <a:r>
              <a:rPr sz="2200" b="0" lang="es-CO">
                <a:solidFill>
                  <a:srgbClr val="C2410C"/>
                </a:solidFill>
                <a:latin typeface="Arial"/>
              </a:rPr>
              <a:t>event_id</a:t>
            </a:r>
            <a:r>
              <a:rPr sz="2200" b="0" lang="es-CO">
                <a:solidFill>
                  <a:srgbClr val="0F172A"/>
                </a:solidFill>
                <a:latin typeface="Arial"/>
              </a:rPr>
              <a:t>, así que reenviar no tiene un segundo efecto</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El ciclo de vida del outbox de un vistazo</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Image" descr="Ciclo de vida del outbox: entrega al menos una vez, los consumidores deduplican"/>
          <p:cNvPicPr>
            <a:picLocks noChangeAspect="1"/>
          </p:cNvPicPr>
          <p:nvPr/>
        </p:nvPicPr>
        <p:blipFill>
          <a:blip r:embed="rId2"/>
          <a:stretch>
            <a:fillRect/>
          </a:stretch>
        </p:blipFill>
        <p:spPr>
          <a:xfrm>
            <a:off x="1504544" y="1508760"/>
            <a:ext cx="9182912" cy="4315969"/>
          </a:xfrm>
          <a:prstGeom prst="rect">
            <a:avLst/>
          </a:prstGeom>
          <a:ln w="9525">
            <a:solidFill>
              <a:srgbClr val="E2E8F0"/>
            </a:solidFill>
          </a:ln>
        </p:spPr>
      </p:pic>
      <p:sp>
        <p:nvSpPr>
          <p:cNvPr id="6" name="Caption"/>
          <p:cNvSpPr txBox="1"/>
          <p:nvPr/>
        </p:nvSpPr>
        <p:spPr>
          <a:xfrm>
            <a:off x="548640" y="5897881"/>
            <a:ext cx="11094720" cy="182879"/>
          </a:xfrm>
          <a:prstGeom prst="rect">
            <a:avLst/>
          </a:prstGeom>
          <a:noFill/>
        </p:spPr>
        <p:txBody>
          <a:bodyPr wrap="square" anchor="t" lIns="0" rIns="0" tIns="0" bIns="0">
            <a:noAutofit/>
          </a:bodyPr>
          <a:lstStyle/>
          <a:p>
            <a:pPr algn="ctr"/>
            <a:r>
              <a:rPr sz="1200" b="0" lang="es-CO">
                <a:solidFill>
                  <a:srgbClr val="475569"/>
                </a:solidFill>
                <a:latin typeface="Arial"/>
              </a:rPr>
              <a:t>Ciclo de vida del outbox: entrega al menos una vez, los consumidores deduplican</a:t>
            </a:r>
          </a:p>
        </p:txBody>
      </p:sp>
      <p:sp>
        <p:nvSpPr>
          <p:cNvPr id="7"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9"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Cuatro países, dos idiomas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64617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s-CO">
                <a:solidFill>
                  <a:srgbClr val="C2410C"/>
                </a:solidFill>
                <a:latin typeface="Arial"/>
              </a:rPr>
              <a:t>co-alpha</a:t>
            </a:r>
            <a:r>
              <a:rPr sz="2200" b="0" lang="es-CO">
                <a:solidFill>
                  <a:srgbClr val="0F172A"/>
                </a:solidFill>
                <a:latin typeface="Arial"/>
              </a:rPr>
              <a:t>, Colombia: COP con escala 0, impuesto del 19% y del 5%, obsequios gravados</a:t>
            </a:r>
          </a:p>
          <a:p>
            <a:pPr marL="237490" indent="-237490">
              <a:spcBef>
                <a:spcPts val="990"/>
              </a:spcBef>
              <a:buClr>
                <a:srgbClr val="C2410C"/>
              </a:buClr>
              <a:buSzPct val="100000"/>
              <a:buFont typeface="Arial"/>
              <a:buChar char="•"/>
            </a:pPr>
            <a:r>
              <a:rPr sz="2200" b="0" lang="es-CO">
                <a:solidFill>
                  <a:srgbClr val="C2410C"/>
                </a:solidFill>
                <a:latin typeface="Arial"/>
              </a:rPr>
              <a:t>ec-alpha</a:t>
            </a:r>
            <a:r>
              <a:rPr sz="2200" b="0" lang="es-CO">
                <a:solidFill>
                  <a:srgbClr val="0F172A"/>
                </a:solidFill>
                <a:latin typeface="Arial"/>
              </a:rPr>
              <a:t>, Ecuador: USD con escala 2, impuesto del 15%, obsequios exentos</a:t>
            </a:r>
          </a:p>
          <a:p>
            <a:pPr marL="237490" indent="-237490">
              <a:spcBef>
                <a:spcPts val="990"/>
              </a:spcBef>
              <a:buClr>
                <a:srgbClr val="C2410C"/>
              </a:buClr>
              <a:buSzPct val="100000"/>
              <a:buFont typeface="Arial"/>
              <a:buChar char="•"/>
            </a:pPr>
            <a:r>
              <a:rPr sz="2200" b="0" lang="es-CO">
                <a:solidFill>
                  <a:srgbClr val="C2410C"/>
                </a:solidFill>
                <a:latin typeface="Arial"/>
              </a:rPr>
              <a:t>gt-alpha</a:t>
            </a:r>
            <a:r>
              <a:rPr sz="2200" b="0" lang="es-CO">
                <a:solidFill>
                  <a:srgbClr val="0F172A"/>
                </a:solidFill>
                <a:latin typeface="Arial"/>
              </a:rPr>
              <a:t>, Guatemala: GTQ con escala 2, impuesto del 12%, obsequios exentos</a:t>
            </a:r>
          </a:p>
          <a:p>
            <a:pPr marL="237490" indent="-237490">
              <a:spcBef>
                <a:spcPts val="990"/>
              </a:spcBef>
              <a:buClr>
                <a:srgbClr val="C2410C"/>
              </a:buClr>
              <a:buSzPct val="100000"/>
              <a:buFont typeface="Arial"/>
              <a:buChar char="•"/>
            </a:pPr>
            <a:r>
              <a:rPr sz="2200" b="0" lang="es-CO">
                <a:solidFill>
                  <a:srgbClr val="C2410C"/>
                </a:solidFill>
                <a:latin typeface="Arial"/>
              </a:rPr>
              <a:t>pe-alpha</a:t>
            </a:r>
            <a:r>
              <a:rPr sz="2200" b="0" lang="es-CO">
                <a:solidFill>
                  <a:srgbClr val="0F172A"/>
                </a:solidFill>
                <a:latin typeface="Arial"/>
              </a:rPr>
              <a:t>, Perú: PEN con escala 2, impuesto del 18%, obsequios gravados</a:t>
            </a:r>
          </a:p>
          <a:p>
            <a:pPr marL="237490" indent="-237490">
              <a:spcBef>
                <a:spcPts val="990"/>
              </a:spcBef>
              <a:buClr>
                <a:srgbClr val="C2410C"/>
              </a:buClr>
              <a:buSzPct val="100000"/>
              <a:buFont typeface="Arial"/>
              <a:buChar char="•"/>
            </a:pPr>
            <a:r>
              <a:rPr sz="2200" b="0" lang="es-CO">
                <a:solidFill>
                  <a:srgbClr val="0F172A"/>
                </a:solidFill>
                <a:latin typeface="Arial"/>
              </a:rPr>
              <a:t>Guatemala y Perú llegaron como un changelog de Liquibase con datos, sin cambiar el motor ni el código de la API</a:t>
            </a:r>
          </a:p>
          <a:p>
            <a:pPr marL="237490" indent="-237490">
              <a:spcBef>
                <a:spcPts val="990"/>
              </a:spcBef>
              <a:buClr>
                <a:srgbClr val="C2410C"/>
              </a:buClr>
              <a:buSzPct val="100000"/>
              <a:buFont typeface="Arial"/>
              <a:buChar char="•"/>
            </a:pPr>
            <a:r>
              <a:rPr sz="2200" b="0" lang="es-CO">
                <a:solidFill>
                  <a:srgbClr val="0F172A"/>
                </a:solidFill>
                <a:latin typeface="Arial"/>
              </a:rPr>
              <a:t>Español por defecto e inglés completo: la API sigue </a:t>
            </a:r>
            <a:r>
              <a:rPr sz="2200" b="0" lang="es-CO">
                <a:solidFill>
                  <a:srgbClr val="C2410C"/>
                </a:solidFill>
                <a:latin typeface="Arial"/>
              </a:rPr>
              <a:t>Accept-Language</a:t>
            </a:r>
            <a:r>
              <a:rPr sz="2200" b="0" lang="es-CO">
                <a:solidFill>
                  <a:srgbClr val="0F172A"/>
                </a:solidFill>
                <a:latin typeface="Arial"/>
              </a:rPr>
              <a:t> y el cliente web cambia de idioma en ejecución</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Calidad y evidencia</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3977631"/>
          </a:xfrm>
          <a:prstGeom prst="rect">
            <a:avLst/>
          </a:prstGeom>
          <a:noFill/>
        </p:spPr>
        <p:txBody>
          <a:bodyPr wrap="square" anchor="t" lIns="0" rIns="0" tIns="0" bIns="0">
            <a:noAutofit/>
          </a:bodyPr>
          <a:lstStyle/>
          <a:p>
            <a:pPr marL="259080" indent="-259080">
              <a:buClr>
                <a:srgbClr val="C2410C"/>
              </a:buClr>
              <a:buSzPct val="100000"/>
              <a:buFont typeface="Arial"/>
              <a:buChar char="•"/>
            </a:pPr>
            <a:r>
              <a:rPr sz="2400" b="0" lang="es-CO">
                <a:solidFill>
                  <a:srgbClr val="0F172A"/>
                </a:solidFill>
                <a:latin typeface="Arial"/>
              </a:rPr>
              <a:t>API: 333 pruebas unitarias y 308 de integración en verde, entre ellas los seis golden tests</a:t>
            </a:r>
          </a:p>
          <a:p>
            <a:pPr marL="259080" indent="-259080">
              <a:spcBef>
                <a:spcPts val="1080"/>
              </a:spcBef>
              <a:buClr>
                <a:srgbClr val="C2410C"/>
              </a:buClr>
              <a:buSzPct val="100000"/>
              <a:buFont typeface="Arial"/>
              <a:buChar char="•"/>
            </a:pPr>
            <a:r>
              <a:rPr sz="2400" b="0" lang="es-CO">
                <a:solidFill>
                  <a:srgbClr val="0F172A"/>
                </a:solidFill>
                <a:latin typeface="Arial"/>
              </a:rPr>
              <a:t>JaCoCo: 100% de líneas y ramas en </a:t>
            </a:r>
            <a:r>
              <a:rPr sz="2400" b="0" lang="es-CO">
                <a:solidFill>
                  <a:srgbClr val="C2410C"/>
                </a:solidFill>
                <a:latin typeface="Arial"/>
              </a:rPr>
              <a:t>pricing.domain</a:t>
            </a:r>
            <a:r>
              <a:rPr sz="2400" b="0" lang="es-CO">
                <a:solidFill>
                  <a:srgbClr val="0F172A"/>
                </a:solidFill>
                <a:latin typeface="Arial"/>
              </a:rPr>
              <a:t> y </a:t>
            </a:r>
            <a:r>
              <a:rPr sz="2400" b="0" lang="es-CO">
                <a:solidFill>
                  <a:srgbClr val="C2410C"/>
                </a:solidFill>
                <a:latin typeface="Arial"/>
              </a:rPr>
              <a:t>pricing.domain.lever</a:t>
            </a:r>
            <a:r>
              <a:rPr sz="2400" b="0" lang="es-CO">
                <a:solidFill>
                  <a:srgbClr val="0F172A"/>
                </a:solidFill>
                <a:latin typeface="Arial"/>
              </a:rPr>
              <a:t> (umbral 90%); 99.2% de líneas / 98.0% de ramas en todo el servicio</a:t>
            </a:r>
          </a:p>
          <a:p>
            <a:pPr marL="259080" indent="-259080">
              <a:spcBef>
                <a:spcPts val="1080"/>
              </a:spcBef>
              <a:buClr>
                <a:srgbClr val="C2410C"/>
              </a:buClr>
              <a:buSzPct val="100000"/>
              <a:buFont typeface="Arial"/>
              <a:buChar char="•"/>
            </a:pPr>
            <a:r>
              <a:rPr sz="2400" b="0" lang="es-CO">
                <a:solidFill>
                  <a:srgbClr val="0F172A"/>
                </a:solidFill>
                <a:latin typeface="Arial"/>
              </a:rPr>
              <a:t>PIT: 185 de 185 mutaciones detectadas (100%, umbral 80%)</a:t>
            </a:r>
          </a:p>
          <a:p>
            <a:pPr marL="259080" indent="-259080">
              <a:spcBef>
                <a:spcPts val="1080"/>
              </a:spcBef>
              <a:buClr>
                <a:srgbClr val="C2410C"/>
              </a:buClr>
              <a:buSzPct val="100000"/>
              <a:buFont typeface="Arial"/>
              <a:buChar char="•"/>
            </a:pPr>
            <a:r>
              <a:rPr sz="2400" b="0" lang="es-CO">
                <a:solidFill>
                  <a:srgbClr val="0F172A"/>
                </a:solidFill>
                <a:latin typeface="Arial"/>
              </a:rPr>
              <a:t>Web: 209 specs en 15 archivos, en Chromium headless</a:t>
            </a:r>
          </a:p>
          <a:p>
            <a:pPr marL="259080" indent="-259080">
              <a:spcBef>
                <a:spcPts val="1080"/>
              </a:spcBef>
              <a:buClr>
                <a:srgbClr val="C2410C"/>
              </a:buClr>
              <a:buSzPct val="100000"/>
              <a:buFont typeface="Arial"/>
              <a:buChar char="•"/>
            </a:pPr>
            <a:r>
              <a:rPr sz="2400" b="0" lang="es-CO">
                <a:solidFill>
                  <a:srgbClr val="0F172A"/>
                </a:solidFill>
                <a:latin typeface="Arial"/>
              </a:rPr>
              <a:t>De extremo a extremo: 2 de 2 flujos pasan, en español y en inglés, contra el stack completo</a:t>
            </a:r>
          </a:p>
          <a:p>
            <a:pPr marL="259080" indent="-259080">
              <a:spcBef>
                <a:spcPts val="1080"/>
              </a:spcBef>
              <a:buClr>
                <a:srgbClr val="C2410C"/>
              </a:buClr>
              <a:buSzPct val="100000"/>
              <a:buFont typeface="Arial"/>
              <a:buChar char="•"/>
            </a:pPr>
            <a:r>
              <a:rPr sz="2400" b="0" lang="es-CO">
                <a:solidFill>
                  <a:srgbClr val="C2410C"/>
                </a:solidFill>
                <a:latin typeface="Arial"/>
              </a:rPr>
              <a:t>test-all</a:t>
            </a:r>
            <a:r>
              <a:rPr sz="2400" b="0" lang="es-CO">
                <a:solidFill>
                  <a:srgbClr val="0F172A"/>
                </a:solidFill>
                <a:latin typeface="Arial"/>
              </a:rPr>
              <a:t>: OK sobre clones nuevos, el 2026-10-17</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Cómo ejecutarlo</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206230"/>
          </a:xfrm>
          <a:prstGeom prst="rect">
            <a:avLst/>
          </a:prstGeom>
          <a:noFill/>
        </p:spPr>
        <p:txBody>
          <a:bodyPr wrap="square" anchor="t" lIns="0" rIns="0" tIns="0" bIns="0">
            <a:noAutofit/>
          </a:bodyPr>
          <a:lstStyle/>
          <a:p>
            <a:pPr marL="396240" indent="-396240">
              <a:buClr>
                <a:srgbClr val="C2410C"/>
              </a:buClr>
              <a:buSzPct val="100000"/>
              <a:buFont typeface="Arial"/>
              <a:buAutoNum type="arabicPeriod"/>
            </a:pPr>
            <a:r>
              <a:rPr sz="2400" b="0" lang="es-CO">
                <a:solidFill>
                  <a:srgbClr val="0F172A"/>
                </a:solidFill>
                <a:latin typeface="Arial"/>
              </a:rPr>
              <a:t>Clonar los seis repositorios lado a lado; Docker debe estar corriendo, con JDK 21 y Node 18 o superior para </a:t>
            </a:r>
            <a:r>
              <a:rPr sz="2400" b="0" lang="es-CO">
                <a:solidFill>
                  <a:srgbClr val="C2410C"/>
                </a:solidFill>
                <a:latin typeface="Arial"/>
              </a:rPr>
              <a:t>test-all</a:t>
            </a:r>
          </a:p>
          <a:p>
            <a:pPr marL="396240" indent="-396240">
              <a:spcBef>
                <a:spcPts val="1080"/>
              </a:spcBef>
              <a:buClr>
                <a:srgbClr val="C2410C"/>
              </a:buClr>
              <a:buSzPct val="100000"/>
              <a:buFont typeface="Arial"/>
              <a:buAutoNum type="arabicPeriod" startAt="2"/>
            </a:pPr>
            <a:r>
              <a:rPr sz="2400" b="0" lang="es-CO">
                <a:solidFill>
                  <a:srgbClr val="C2410C"/>
                </a:solidFill>
                <a:latin typeface="Arial"/>
              </a:rPr>
              <a:t>docker compose up --build</a:t>
            </a:r>
            <a:r>
              <a:rPr sz="2400" b="0" lang="es-CO">
                <a:solidFill>
                  <a:srgbClr val="0F172A"/>
                </a:solidFill>
                <a:latin typeface="Arial"/>
              </a:rPr>
              <a:t> en </a:t>
            </a:r>
            <a:r>
              <a:rPr sz="2400" b="0" lang="es-CO">
                <a:solidFill>
                  <a:srgbClr val="C2410C"/>
                </a:solidFill>
                <a:latin typeface="Arial"/>
              </a:rPr>
              <a:t>orderflow-engine-infra</a:t>
            </a:r>
            <a:r>
              <a:rPr sz="2400" b="0" lang="es-CO">
                <a:solidFill>
                  <a:srgbClr val="0F172A"/>
                </a:solidFill>
                <a:latin typeface="Arial"/>
              </a:rPr>
              <a:t>: la base de datos, la API y el cliente web</a:t>
            </a:r>
          </a:p>
          <a:p>
            <a:pPr marL="396240" indent="-396240">
              <a:spcBef>
                <a:spcPts val="1080"/>
              </a:spcBef>
              <a:buClr>
                <a:srgbClr val="C2410C"/>
              </a:buClr>
              <a:buSzPct val="100000"/>
              <a:buFont typeface="Arial"/>
              <a:buAutoNum type="arabicPeriod" startAt="3"/>
            </a:pPr>
            <a:r>
              <a:rPr sz="2400" b="0" lang="es-CO">
                <a:solidFill>
                  <a:srgbClr val="0F172A"/>
                </a:solidFill>
                <a:latin typeface="Arial"/>
              </a:rPr>
              <a:t>Abrir </a:t>
            </a:r>
            <a:r>
              <a:rPr sz="2400" b="0" lang="es-CO">
                <a:solidFill>
                  <a:srgbClr val="C2410C"/>
                </a:solidFill>
                <a:latin typeface="Arial"/>
              </a:rPr>
              <a:t>http://localhost:8081</a:t>
            </a:r>
            <a:r>
              <a:rPr sz="2400" b="0" lang="es-CO">
                <a:solidFill>
                  <a:srgbClr val="0F172A"/>
                </a:solidFill>
                <a:latin typeface="Arial"/>
              </a:rPr>
              <a:t>; la salud de la API está en </a:t>
            </a:r>
            <a:r>
              <a:rPr sz="2400" b="0" lang="es-CO">
                <a:solidFill>
                  <a:srgbClr val="C2410C"/>
                </a:solidFill>
                <a:latin typeface="Arial"/>
              </a:rPr>
              <a:t>http://localhost:8080/actuator/health</a:t>
            </a:r>
          </a:p>
          <a:p>
            <a:pPr marL="396240" indent="-396240">
              <a:spcBef>
                <a:spcPts val="1080"/>
              </a:spcBef>
              <a:buClr>
                <a:srgbClr val="C2410C"/>
              </a:buClr>
              <a:buSzPct val="100000"/>
              <a:buFont typeface="Arial"/>
              <a:buAutoNum type="arabicPeriod" startAt="4"/>
            </a:pPr>
            <a:r>
              <a:rPr sz="2400" b="0" lang="es-CO">
                <a:solidFill>
                  <a:srgbClr val="C2410C"/>
                </a:solidFill>
                <a:latin typeface="Arial"/>
              </a:rPr>
              <a:t>./mvnw verify</a:t>
            </a:r>
            <a:r>
              <a:rPr sz="2400" b="0" lang="es-CO">
                <a:solidFill>
                  <a:srgbClr val="0F172A"/>
                </a:solidFill>
                <a:latin typeface="Arial"/>
              </a:rPr>
              <a:t> en </a:t>
            </a:r>
            <a:r>
              <a:rPr sz="2400" b="0" lang="es-CO">
                <a:solidFill>
                  <a:srgbClr val="C2410C"/>
                </a:solidFill>
                <a:latin typeface="Arial"/>
              </a:rPr>
              <a:t>orderflow-engine-api</a:t>
            </a:r>
            <a:r>
              <a:rPr sz="2400" b="0" lang="es-CO">
                <a:solidFill>
                  <a:srgbClr val="0F172A"/>
                </a:solidFill>
                <a:latin typeface="Arial"/>
              </a:rPr>
              <a:t>: el comando único para el código y las pruebas de la API</a:t>
            </a:r>
          </a:p>
          <a:p>
            <a:pPr marL="396240" indent="-396240">
              <a:spcBef>
                <a:spcPts val="1080"/>
              </a:spcBef>
              <a:buClr>
                <a:srgbClr val="C2410C"/>
              </a:buClr>
              <a:buSzPct val="100000"/>
              <a:buFont typeface="Arial"/>
              <a:buAutoNum type="arabicPeriod" startAt="5"/>
            </a:pPr>
            <a:r>
              <a:rPr sz="2400" b="0" lang="es-CO">
                <a:solidFill>
                  <a:srgbClr val="C2410C"/>
                </a:solidFill>
                <a:latin typeface="Arial"/>
              </a:rPr>
              <a:t>bash scripts/test-all.sh</a:t>
            </a:r>
            <a:r>
              <a:rPr sz="2400" b="0" lang="es-CO">
                <a:solidFill>
                  <a:srgbClr val="0F172A"/>
                </a:solidFill>
                <a:latin typeface="Arial"/>
              </a:rPr>
              <a:t> en </a:t>
            </a:r>
            <a:r>
              <a:rPr sz="2400" b="0" lang="es-CO">
                <a:solidFill>
                  <a:srgbClr val="C2410C"/>
                </a:solidFill>
                <a:latin typeface="Arial"/>
              </a:rPr>
              <a:t>orderflow-engine-infra</a:t>
            </a:r>
            <a:r>
              <a:rPr sz="2400" b="0" lang="es-CO">
                <a:solidFill>
                  <a:srgbClr val="0F172A"/>
                </a:solidFill>
                <a:latin typeface="Arial"/>
              </a:rPr>
              <a:t>: API, web, extremo a extremo, documentación e integridad</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Qué no se incluyó y por qué</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1673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s-CO">
                <a:solidFill>
                  <a:srgbClr val="0F172A"/>
                </a:solidFill>
                <a:latin typeface="Arial"/>
              </a:rPr>
              <a:t>Autenticación: fuera de alcance; tenant y cliente llegan en cabeceras, y un gateway los inyectaría</a:t>
            </a:r>
          </a:p>
          <a:p>
            <a:pPr marL="237490" indent="-237490">
              <a:spcBef>
                <a:spcPts val="990"/>
              </a:spcBef>
              <a:buClr>
                <a:srgbClr val="C2410C"/>
              </a:buClr>
              <a:buSzPct val="100000"/>
              <a:buFont typeface="Arial"/>
              <a:buChar char="•"/>
            </a:pPr>
            <a:r>
              <a:rPr sz="2200" b="0" lang="es-CO">
                <a:solidFill>
                  <a:srgbClr val="0F172A"/>
                </a:solidFill>
                <a:latin typeface="Arial"/>
              </a:rPr>
              <a:t>Administración de catálogo y palancas: los changesets de Liquibase siembran tiendas, productos y palancas</a:t>
            </a:r>
          </a:p>
          <a:p>
            <a:pPr marL="237490" indent="-237490">
              <a:spcBef>
                <a:spcPts val="990"/>
              </a:spcBef>
              <a:buClr>
                <a:srgbClr val="C2410C"/>
              </a:buClr>
              <a:buSzPct val="100000"/>
              <a:buFont typeface="Arial"/>
              <a:buChar char="•"/>
            </a:pPr>
            <a:r>
              <a:rPr sz="2200" b="0" lang="es-CO">
                <a:solidFill>
                  <a:srgbClr val="0F172A"/>
                </a:solidFill>
                <a:latin typeface="Arial"/>
              </a:rPr>
              <a:t>Cobro, cancelación y liberación de cupo: no se piden</a:t>
            </a:r>
          </a:p>
          <a:p>
            <a:pPr marL="237490" indent="-237490">
              <a:spcBef>
                <a:spcPts val="990"/>
              </a:spcBef>
              <a:buClr>
                <a:srgbClr val="C2410C"/>
              </a:buClr>
              <a:buSzPct val="100000"/>
              <a:buFont typeface="Arial"/>
              <a:buChar char="•"/>
            </a:pPr>
            <a:r>
              <a:rPr sz="2200" b="0" lang="es-CO">
                <a:solidFill>
                  <a:srgbClr val="0F172A"/>
                </a:solidFill>
                <a:latin typeface="Arial"/>
              </a:rPr>
              <a:t>Clientes reales de push y ERP: los fakes detrás de puertos prueban las garantías de entrega</a:t>
            </a:r>
          </a:p>
          <a:p>
            <a:pPr marL="237490" indent="-237490">
              <a:spcBef>
                <a:spcPts val="990"/>
              </a:spcBef>
              <a:buClr>
                <a:srgbClr val="C2410C"/>
              </a:buClr>
              <a:buSzPct val="100000"/>
              <a:buFont typeface="Arial"/>
              <a:buChar char="•"/>
            </a:pPr>
            <a:r>
              <a:rPr sz="2200" b="0" lang="es-CO">
                <a:solidFill>
                  <a:srgbClr val="0F172A"/>
                </a:solidFill>
                <a:latin typeface="Arial"/>
              </a:rPr>
              <a:t>Revocación de cotizaciones: el siguiente paso de la mitigación del riesgo del ADR</a:t>
            </a:r>
          </a:p>
          <a:p>
            <a:pPr marL="237490" indent="-237490">
              <a:spcBef>
                <a:spcPts val="990"/>
              </a:spcBef>
              <a:buClr>
                <a:srgbClr val="C2410C"/>
              </a:buClr>
              <a:buSzPct val="100000"/>
              <a:buFont typeface="Arial"/>
              <a:buChar char="•"/>
            </a:pPr>
            <a:r>
              <a:rPr sz="2200" b="0" lang="es-CO">
                <a:solidFill>
                  <a:srgbClr val="0F172A"/>
                </a:solidFill>
                <a:latin typeface="Arial"/>
              </a:rPr>
              <a:t>Pipeline de CI y SonarQube: la verificación corre en local; un CI correría el mismo </a:t>
            </a:r>
            <a:r>
              <a:rPr sz="2200" b="0" lang="es-CO">
                <a:solidFill>
                  <a:srgbClr val="C2410C"/>
                </a:solidFill>
                <a:latin typeface="Arial"/>
              </a:rPr>
              <a:t>./mvnw verify</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94720" cy="822960"/>
          </a:xfrm>
        </p:spPr>
        <p:txBody>
          <a:bodyPr wrap="square" anchor="b" lIns="0" rIns="0" tIns="0" bIns="0">
            <a:noAutofit/>
          </a:bodyPr>
          <a:lstStyle/>
          <a:p>
            <a:pPr algn="l"/>
            <a:r>
              <a:rPr sz="3000" b="1" lang="es-CO">
                <a:solidFill>
                  <a:srgbClr val="0F172A"/>
                </a:solidFill>
                <a:latin typeface="Arial"/>
              </a:rPr>
              <a:t>Cuatro garantías, y preguntas</a:t>
            </a:r>
          </a:p>
        </p:txBody>
      </p:sp>
      <p:sp>
        <p:nvSpPr>
          <p:cNvPr id="3" name="Title rule"/>
          <p:cNvSpPr/>
          <p:nvPr/>
        </p:nvSpPr>
        <p:spPr>
          <a:xfrm>
            <a:off x="548640" y="1207008"/>
            <a:ext cx="11094720" cy="127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 line"/>
          <p:cNvSpPr/>
          <p:nvPr/>
        </p:nvSpPr>
        <p:spPr>
          <a:xfrm>
            <a:off x="548640" y="1187958"/>
            <a:ext cx="1097280" cy="508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548640" y="1508760"/>
            <a:ext cx="11094720" cy="4316730"/>
          </a:xfrm>
          <a:prstGeom prst="rect">
            <a:avLst/>
          </a:prstGeom>
          <a:noFill/>
        </p:spPr>
        <p:txBody>
          <a:bodyPr wrap="square" anchor="t" lIns="0" rIns="0" tIns="0" bIns="0">
            <a:noAutofit/>
          </a:bodyPr>
          <a:lstStyle/>
          <a:p>
            <a:pPr marL="237490" indent="-237490">
              <a:buClr>
                <a:srgbClr val="C2410C"/>
              </a:buClr>
              <a:buSzPct val="100000"/>
              <a:buFont typeface="Arial"/>
              <a:buChar char="•"/>
            </a:pPr>
            <a:r>
              <a:rPr sz="2200" b="0" lang="es-CO">
                <a:solidFill>
                  <a:srgbClr val="0F172A"/>
                </a:solidFill>
                <a:latin typeface="Arial"/>
              </a:rPr>
              <a:t>El total cotizado es el total confirmado: cotizaciones selladas, de solo inserción</a:t>
            </a:r>
          </a:p>
          <a:p>
            <a:pPr marL="237490" indent="-237490">
              <a:spcBef>
                <a:spcPts val="990"/>
              </a:spcBef>
              <a:buClr>
                <a:srgbClr val="C2410C"/>
              </a:buClr>
              <a:buSzPct val="100000"/>
              <a:buFont typeface="Arial"/>
              <a:buChar char="•"/>
            </a:pPr>
            <a:r>
              <a:rPr sz="2200" b="0" lang="es-CO">
                <a:solidFill>
                  <a:srgbClr val="0F172A"/>
                </a:solidFill>
                <a:latin typeface="Arial"/>
              </a:rPr>
              <a:t>Nada de punto flotante para dinero: </a:t>
            </a:r>
            <a:r>
              <a:rPr sz="2200" b="0" lang="es-CO">
                <a:solidFill>
                  <a:srgbClr val="C2410C"/>
                </a:solidFill>
                <a:latin typeface="Arial"/>
              </a:rPr>
              <a:t>BigDecimal</a:t>
            </a:r>
            <a:r>
              <a:rPr sz="2200" b="0" lang="es-CO">
                <a:solidFill>
                  <a:srgbClr val="0F172A"/>
                </a:solidFill>
                <a:latin typeface="Arial"/>
              </a:rPr>
              <a:t>, escala tomada de los datos del país, redondeo por línea</a:t>
            </a:r>
          </a:p>
          <a:p>
            <a:pPr marL="237490" indent="-237490">
              <a:spcBef>
                <a:spcPts val="990"/>
              </a:spcBef>
              <a:buClr>
                <a:srgbClr val="C2410C"/>
              </a:buClr>
              <a:buSzPct val="100000"/>
              <a:buFont typeface="Arial"/>
              <a:buChar char="•"/>
            </a:pPr>
            <a:r>
              <a:rPr sz="2200" b="0" lang="es-CO">
                <a:solidFill>
                  <a:srgbClr val="0F172A"/>
                </a:solidFill>
                <a:latin typeface="Arial"/>
              </a:rPr>
              <a:t>Un 201 significa que el pedido existe y se puede consultar: una transacción, respuesta después del commit</a:t>
            </a:r>
          </a:p>
          <a:p>
            <a:pPr marL="237490" indent="-237490">
              <a:spcBef>
                <a:spcPts val="990"/>
              </a:spcBef>
              <a:buClr>
                <a:srgbClr val="C2410C"/>
              </a:buClr>
              <a:buSzPct val="100000"/>
              <a:buFont typeface="Arial"/>
              <a:buChar char="•"/>
            </a:pPr>
            <a:r>
              <a:rPr sz="2200" b="0" lang="es-CO">
                <a:solidFill>
                  <a:srgbClr val="0F172A"/>
                </a:solidFill>
                <a:latin typeface="Arial"/>
              </a:rPr>
              <a:t>Los efectos en push y ERP nunca se pierden ni se aplican dos veces: outbox y </a:t>
            </a:r>
            <a:r>
              <a:rPr sz="2200" b="0" lang="es-CO">
                <a:solidFill>
                  <a:srgbClr val="C2410C"/>
                </a:solidFill>
                <a:latin typeface="Arial"/>
              </a:rPr>
              <a:t>event_id</a:t>
            </a:r>
          </a:p>
          <a:p>
            <a:pPr marL="237490" indent="-237490">
              <a:spcBef>
                <a:spcPts val="990"/>
              </a:spcBef>
              <a:buClr>
                <a:srgbClr val="C2410C"/>
              </a:buClr>
              <a:buSzPct val="100000"/>
              <a:buFont typeface="Arial"/>
              <a:buChar char="•"/>
            </a:pPr>
            <a:r>
              <a:rPr sz="2200" b="0" lang="es-CO">
                <a:solidFill>
                  <a:srgbClr val="0F172A"/>
                </a:solidFill>
                <a:latin typeface="Arial"/>
              </a:rPr>
              <a:t>Cada garantía tiene sus pruebas: golden, de integración, de mutación y de extremo a extremo</a:t>
            </a:r>
          </a:p>
          <a:p>
            <a:pPr marL="237490" indent="-237490">
              <a:spcBef>
                <a:spcPts val="990"/>
              </a:spcBef>
              <a:buClr>
                <a:srgbClr val="C2410C"/>
              </a:buClr>
              <a:buSzPct val="100000"/>
              <a:buFont typeface="Arial"/>
              <a:buChar char="•"/>
            </a:pPr>
            <a:r>
              <a:rPr sz="2200" b="0" lang="es-CO">
                <a:solidFill>
                  <a:srgbClr val="0F172A"/>
                </a:solidFill>
                <a:latin typeface="Arial"/>
              </a:rPr>
              <a:t>¿Preguntas?</a:t>
            </a:r>
          </a:p>
        </p:txBody>
      </p:sp>
      <p:sp>
        <p:nvSpPr>
          <p:cNvPr id="6" name="Footer line"/>
          <p:cNvSpPr/>
          <p:nvPr/>
        </p:nvSpPr>
        <p:spPr>
          <a:xfrm>
            <a:off x="548640" y="6263640"/>
            <a:ext cx="1109472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er"/>
          <p:cNvSpPr txBox="1"/>
          <p:nvPr/>
        </p:nvSpPr>
        <p:spPr>
          <a:xfrm>
            <a:off x="548640" y="6336792"/>
            <a:ext cx="5486400" cy="329184"/>
          </a:xfrm>
          <a:prstGeom prst="rect">
            <a:avLst/>
          </a:prstGeom>
          <a:noFill/>
        </p:spPr>
        <p:txBody>
          <a:bodyPr wrap="square" anchor="ctr" lIns="0" rIns="0" tIns="0" bIns="0">
            <a:noAutofit/>
          </a:bodyPr>
          <a:lstStyle/>
          <a:p>
            <a:r>
              <a:rPr sz="1100" b="0" lang="es-CO">
                <a:solidFill>
                  <a:srgbClr val="64748B"/>
                </a:solidFill>
                <a:latin typeface="Arial"/>
              </a:rPr>
              <a:t>Orderflow Engine</a:t>
            </a:r>
          </a:p>
        </p:txBody>
      </p:sp>
      <p:sp>
        <p:nvSpPr>
          <p:cNvPr id="8" name="Slide number"/>
          <p:cNvSpPr txBox="1"/>
          <p:nvPr/>
        </p:nvSpPr>
        <p:spPr>
          <a:xfrm>
            <a:off x="9814560" y="6336792"/>
            <a:ext cx="1828800" cy="329184"/>
          </a:xfrm>
          <a:prstGeom prst="rect">
            <a:avLst/>
          </a:prstGeom>
          <a:noFill/>
        </p:spPr>
        <p:txBody>
          <a:bodyPr wrap="square" anchor="ctr" lIns="0" rIns="0" tIns="0" bIns="0">
            <a:noAutofit/>
          </a:bodyPr>
          <a:lstStyle/>
          <a:p>
            <a:pPr algn="r"/>
            <a:fld id="{8A3C2F61-5D4B-4E2A-9C7F-1B2D3E4F5A60}" type="slidenum">
              <a:rPr sz="1100" b="0" lang="es-CO">
                <a:solidFill>
                  <a:srgbClr val="64748B"/>
                </a:solidFill>
                <a:latin typeface="Arial"/>
              </a:rPr>
              <a:t>23</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C2410C"/>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C2410C"/>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PresentationFormat>Widescreen</PresentationFormat>
  <Slides>23</Slides>
  <Notes>22</Notes>
  <HiddenSlides>0</HiddenSlides>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Orderflow Engine — Fuente de la presentación</dc:title>
  <dc:subject/>
  <dc:creator>Jesús Ariel González Bonilla</dc:creator>
  <cp:keywords/>
  <dc:description/>
  <cp:lastModifiedBy>Jesús Ariel González Bonilla</cp:lastModifiedBy>
  <cp:revision>1</cp:revision>
  <dcterms:created xsi:type="dcterms:W3CDTF">2026-10-17T00:00:00Z</dcterms:created>
  <dcterms:modified xsi:type="dcterms:W3CDTF">2026-10-17T00:00:00Z</dcterms:modified>
  <cp:category/>
  <dc:language>es-CO</dc:language>
</cp:coreProperties>
</file>