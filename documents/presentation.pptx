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The assignment describes a B2B marketplace where shopkeepers order beverages from distributors, in several countries and brands on one platform. Its sharpest point is an incident that repeated in three releases: the shopkeeper received an order number, and then the order was not in the history. Everything shown next is designed so that this cannot happen again.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The three parts of the assignment live in the API repository: the engine, the confirmation and the ADR. Around them come the web client, which the product owner extended from one summary screen to the full flow, the infrastructure that runs everything together, and the documentation. Nothing in A1, A2 or A3 depends on the web client.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Each component lives in its own repository, so the service, the client, the infrastructure and the documents evolve and are released apart. The API repository stands alone as the deliverable the assignment asks for. The infrastructure repository is the only one that references its siblings, because it orchestrates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The arrows show what each repository takes from another: the specification in </a:t>
            </a:r>
            <a:r>
              <a:rPr sz="1200" b="0" lang="en-US">
                <a:solidFill>
                  <a:srgbClr val="C2410C"/>
                </a:solidFill>
                <a:latin typeface="Arial"/>
              </a:rPr>
              <a:t>orderflow-engine-docs</a:t>
            </a:r>
            <a:r>
              <a:rPr sz="1200" b="0" lang="en-US">
                <a:solidFill>
                  <a:srgbClr val="0F172A"/>
                </a:solidFill>
                <a:latin typeface="Arial"/>
              </a:rPr>
              <a:t> governs all of them, the generators of </a:t>
            </a:r>
            <a:r>
              <a:rPr sz="1200" b="0" lang="en-US">
                <a:solidFill>
                  <a:srgbClr val="C2410C"/>
                </a:solidFill>
                <a:latin typeface="Arial"/>
              </a:rPr>
              <a:t>orderflow-engine-tools</a:t>
            </a:r>
            <a:r>
              <a:rPr sz="1200" b="0" lang="en-US">
                <a:solidFill>
                  <a:srgbClr val="0F172A"/>
                </a:solidFill>
                <a:latin typeface="Arial"/>
              </a:rPr>
              <a:t> produce what the documentation publishes, the web client follows the API contract, and </a:t>
            </a:r>
            <a:r>
              <a:rPr sz="1200" b="0" lang="en-US">
                <a:solidFill>
                  <a:srgbClr val="C2410C"/>
                </a:solidFill>
                <a:latin typeface="Arial"/>
              </a:rPr>
              <a:t>orderflow-engine-infra</a:t>
            </a:r>
            <a:r>
              <a:rPr sz="1200" b="0" lang="en-US">
                <a:solidFill>
                  <a:srgbClr val="0F172A"/>
                </a:solidFill>
                <a:latin typeface="Arial"/>
              </a:rPr>
              <a:t> runs the tests of both.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At run time there is one service and one database. The browser only calls its own origin, and nginx forwards the API paths. Nothing in the request path calls push or the ERP: those effects leave through the outbox relay once the order is committed.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The store picker stands in for a login, which is out of scope: it sends a seeded tenant and customer as headers. The cart lists exactly what the API can price, and it never computes money, so the total arrives with the quote. The browser keeps one cart per store.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This is the screen the assignment offered as the optional front. It reads the quote from the API on every visit and shows each amount exactly as the API sent it. The credit check here is advisory: credit is consumed only at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This is the breakdown the assignment asks for: per line and in totals, the gross subtotal, discounts with their origin, gifts with their quantity, the taxable base, taxes and the total. The combo appears once, as the assignment requires, and its share on each line only explains that line's tax. Where the country taxes gifts, the screen says that the customer pays the gift's tax.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The client side of idempotency mirrors the server side: one key per quote, created at the first tap and reused on every retry. If the network fails after the order was committed, the retry gets the same order back instead of a duplicate. The store's cart is emptied after the 201.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This closes the loop on the reported defect: the number the shopkeeper just received is in the history right away. The history reads the same primary tables the confirmation wrote, and the end-to-end flow checks it in Spanish and in English.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The engine is a pure function: the cart is normalized first, and the same cart and snapshot always give the same breakdown. Combos go before tiers so the same units are never discounted twice, and tax is computed after the commercial discounts, as the assignment requires. Golden test 1 shows the marginal brackets: 25 colas at 2,500 give 1,250 plus 1,500, a 2,750 discount and a 71,103 total.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The amber steps are the only rounding points: the discounts and the tax of each line, at the scale and rounding mode of the country. The total is the sum of the rounded lines and is never rounded again, and the credit evaluation runs outside the engine.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Per-line rounding matches the way an electronic invoice carries tax, so the order and its invoice always agree. Golden test 4 shows it: a 3,600 combo discount is split into 2,647 and 953 by largest remainder, the taxes are 1,397 and 132, and the total is 11,529. The web client never does arithmetic on money either: it formats the API's strings.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The quoted total equals the confirmed total by construction, not by comparing two computations: there is one copy of each figure, and the order points at it. The ADR records the trade-off: a wrong price is honored for at most one time to live, and quote revocation is the next step of its mitigation.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Every write of the confirmation happens in one PostgreSQL transaction, and the response is sent only after the commit, so a returned order number always points to a committed, readable row. The same key with the same body returns the stored response byte for byte, with </a:t>
            </a:r>
            <a:r>
              <a:rPr sz="1200" b="0" lang="en-US">
                <a:solidFill>
                  <a:srgbClr val="C2410C"/>
                </a:solidFill>
                <a:latin typeface="Arial"/>
              </a:rPr>
              <a:t>Idempotent-Replayed: true</a:t>
            </a:r>
            <a:r>
              <a:rPr sz="1200" b="0" lang="en-US">
                <a:solidFill>
                  <a:srgbClr val="0F172A"/>
                </a:solidFill>
                <a:latin typeface="Arial"/>
              </a:rPr>
              <a:t>, while a failed request is not cached, so the client can fix the cause and retry. Locks are always taken key, then quote, then credit, so concurrent confirmations cannot deadlock.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If push or the ERP is down, the order stays confirmed and the effect waits in the outbox, the </a:t>
            </a:r>
            <a:r>
              <a:rPr sz="1200" b="0" lang="en-US">
                <a:solidFill>
                  <a:srgbClr val="C2410C"/>
                </a:solidFill>
                <a:latin typeface="Arial"/>
              </a:rPr>
              <a:t>outbox_pending</a:t>
            </a:r>
            <a:r>
              <a:rPr sz="1200" b="0" lang="en-US">
                <a:solidFill>
                  <a:srgbClr val="0F172A"/>
                </a:solidFill>
                <a:latin typeface="Arial"/>
              </a:rPr>
              <a:t> gauge shows the backlog, and delivery resumes on recovery. If the service stops between sending and marking, the lease expires and the event is sent again, which is safe because consumers deduplicate. An operator requeues a </a:t>
            </a:r>
            <a:r>
              <a:rPr sz="1200" b="0" lang="en-US">
                <a:solidFill>
                  <a:srgbClr val="C2410C"/>
                </a:solidFill>
                <a:latin typeface="Arial"/>
              </a:rPr>
              <a:t>DEAD</a:t>
            </a:r>
            <a:r>
              <a:rPr sz="1200" b="0" lang="en-US">
                <a:solidFill>
                  <a:srgbClr val="0F172A"/>
                </a:solidFill>
                <a:latin typeface="Arial"/>
              </a:rPr>
              <a:t> event with one SQL update, documented in the API README.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An event is written as </a:t>
            </a:r>
            <a:r>
              <a:rPr sz="1200" b="0" lang="en-US">
                <a:solidFill>
                  <a:srgbClr val="C2410C"/>
                </a:solidFill>
                <a:latin typeface="Arial"/>
              </a:rPr>
              <a:t>PENDING</a:t>
            </a:r>
            <a:r>
              <a:rPr sz="1200" b="0" lang="en-US">
                <a:solidFill>
                  <a:srgbClr val="0F172A"/>
                </a:solidFill>
                <a:latin typeface="Arial"/>
              </a:rPr>
              <a:t> in the order transaction, leased with </a:t>
            </a:r>
            <a:r>
              <a:rPr sz="1200" b="0" lang="en-US">
                <a:solidFill>
                  <a:srgbClr val="C2410C"/>
                </a:solidFill>
                <a:latin typeface="Arial"/>
              </a:rPr>
              <a:t>SKIP LOCKED</a:t>
            </a:r>
            <a:r>
              <a:rPr sz="1200" b="0" lang="en-US">
                <a:solidFill>
                  <a:srgbClr val="0F172A"/>
                </a:solidFill>
                <a:latin typeface="Arial"/>
              </a:rPr>
              <a:t> while it is sent, and becomes </a:t>
            </a:r>
            <a:r>
              <a:rPr sz="1200" b="0" lang="en-US">
                <a:solidFill>
                  <a:srgbClr val="C2410C"/>
                </a:solidFill>
                <a:latin typeface="Arial"/>
              </a:rPr>
              <a:t>SENT</a:t>
            </a:r>
            <a:r>
              <a:rPr sz="1200" b="0" lang="en-US">
                <a:solidFill>
                  <a:srgbClr val="0F172A"/>
                </a:solidFill>
                <a:latin typeface="Arial"/>
              </a:rPr>
              <a:t> when the call succeeds. A retryable failure or an expired lease returns it to </a:t>
            </a:r>
            <a:r>
              <a:rPr sz="1200" b="0" lang="en-US">
                <a:solidFill>
                  <a:srgbClr val="C2410C"/>
                </a:solidFill>
                <a:latin typeface="Arial"/>
              </a:rPr>
              <a:t>PENDING</a:t>
            </a:r>
            <a:r>
              <a:rPr sz="1200" b="0" lang="en-US">
                <a:solidFill>
                  <a:srgbClr val="0F172A"/>
                </a:solidFill>
                <a:latin typeface="Arial"/>
              </a:rPr>
              <a:t> with backoff; a non-retryable error or the last attempt makes it </a:t>
            </a:r>
            <a:r>
              <a:rPr sz="1200" b="0" lang="en-US">
                <a:solidFill>
                  <a:srgbClr val="C2410C"/>
                </a:solidFill>
                <a:latin typeface="Arial"/>
              </a:rPr>
              <a:t>DEAD</a:t>
            </a:r>
            <a:r>
              <a:rPr sz="1200" b="0" lang="en-US">
                <a:solidFill>
                  <a:srgbClr val="0F172A"/>
                </a:solidFill>
                <a:latin typeface="Arial"/>
              </a:rPr>
              <a:t>, and an operator can requeue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Currency, scale, rounding mode, tax rates, gift tax policy and quote lifetime are country data, and none of them is hard-coded; Guatemala and Peru were the proof, since they arrived as data only. Adding a language is one file per side. The ES/EN switch translates the interface, while product and store names stay in the tenant's language.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These numbers come from the handoff, each with the command that produced it. The integration tests run against a real PostgreSQL 17 with Testcontainers, and ArchUnit keeps the domain pure and the transaction boundary in the use cases. Mutation testing proves that the pricing tests detect wrong code, not just execute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Three commands cover it: one starts the stack, one runs the API tests, and one runs every check of the workspace. Compose builds the API and web images from the sibling repositories and starts PostgreSQL first, and every service restarts with Docker unless it was stopped by hand. On Windows, </a:t>
            </a:r>
            <a:r>
              <a:rPr sz="1200" b="0" lang="en-US">
                <a:solidFill>
                  <a:srgbClr val="C2410C"/>
                </a:solidFill>
                <a:latin typeface="Arial"/>
              </a:rPr>
              <a:t>pwsh -File scripts/test-all.ps1</a:t>
            </a:r>
            <a:r>
              <a:rPr sz="1200" b="0" lang="en-US">
                <a:solidFill>
                  <a:srgbClr val="0F172A"/>
                </a:solidFill>
                <a:latin typeface="Arial"/>
              </a:rPr>
              <a:t> runs the same steps.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Each cut is deliberate and recorded, with its reason, in the API README and the ADR. SonarQube would import the JaCoCo report that the build already produces, so CI can add it without project changes. The mobile app repository is reserved and not built.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n-US">
                <a:solidFill>
                  <a:srgbClr val="0F172A"/>
                </a:solidFill>
                <a:latin typeface="Arial"/>
              </a:rPr>
              <a:t>These are the four guarantees of the specification, each with the mechanism that holds it. The defect the assignment reported, an order number returned and then missing, cannot happen by construction, and the tests prove it. Thank you; I am glad to walk through any part of it in the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005840" y="1463040"/>
            <a:ext cx="10637520" cy="1828800"/>
          </a:xfrm>
        </p:spPr>
        <p:txBody>
          <a:bodyPr wrap="square" anchor="b" lIns="0" rIns="0" tIns="0" bIns="0">
            <a:noAutofit/>
          </a:bodyPr>
          <a:lstStyle/>
          <a:p>
            <a:pPr algn="l"/>
            <a:r>
              <a:rPr sz="4400" b="1" lang="en-US">
                <a:solidFill>
                  <a:srgbClr val="0F172A"/>
                </a:solidFill>
                <a:latin typeface="Arial"/>
              </a:rPr>
              <a:t>Orderflow Engine</a:t>
            </a:r>
          </a:p>
        </p:txBody>
      </p:sp>
      <p:sp>
        <p:nvSpPr>
          <p:cNvPr id="3" name="Subtitle 2"/>
          <p:cNvSpPr>
            <a:spLocks noGrp="1"/>
          </p:cNvSpPr>
          <p:nvPr>
            <p:ph type="subTitle" idx="1"/>
          </p:nvPr>
        </p:nvSpPr>
        <p:spPr>
          <a:xfrm>
            <a:off x="1005840" y="3749039"/>
            <a:ext cx="10637520" cy="1097280"/>
          </a:xfrm>
        </p:spPr>
        <p:txBody>
          <a:bodyPr wrap="square" anchor="t" lIns="0" rIns="0" tIns="0" bIns="0">
            <a:noAutofit/>
          </a:bodyPr>
          <a:lstStyle/>
          <a:p>
            <a:pPr algn="l"/>
            <a:r>
              <a:rPr sz="2200" b="0" lang="en-US">
                <a:solidFill>
                  <a:srgbClr val="475569"/>
                </a:solidFill>
                <a:latin typeface="Arial"/>
              </a:rPr>
              <a:t>A pricing engine and an idempotent order confirmation for a multi-country B2B beverage marketplace · Jesús Ariel González Bonilla · 2026-10-17</a:t>
            </a:r>
          </a:p>
        </p:txBody>
      </p:sp>
      <p:sp>
        <p:nvSpPr>
          <p:cNvPr id="4" name="Accent band"/>
          <p:cNvSpPr/>
          <p:nvPr/>
        </p:nvSpPr>
        <p:spPr>
          <a:xfrm>
            <a:off x="0" y="0"/>
            <a:ext cx="256032"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cent line"/>
          <p:cNvSpPr/>
          <p:nvPr/>
        </p:nvSpPr>
        <p:spPr>
          <a:xfrm>
            <a:off x="1005840" y="3520440"/>
            <a:ext cx="1463040" cy="635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The problem</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364617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n-US">
                <a:solidFill>
                  <a:srgbClr val="0F172A"/>
                </a:solidFill>
                <a:latin typeface="Arial"/>
              </a:rPr>
              <a:t>Shopkeepers buy from beverage distributors on one multi-tenant B2B platform, across countries and brands</a:t>
            </a:r>
          </a:p>
          <a:p>
            <a:pPr marL="237490" indent="-237490">
              <a:spcBef>
                <a:spcPts val="990"/>
              </a:spcBef>
              <a:buClr>
                <a:srgbClr val="C2410C"/>
              </a:buClr>
              <a:buSzPct val="100000"/>
              <a:buFont typeface="Arial"/>
              <a:buChar char="•"/>
            </a:pPr>
            <a:r>
              <a:rPr sz="2200" b="0" lang="en-US">
                <a:solidFill>
                  <a:srgbClr val="0F172A"/>
                </a:solidFill>
                <a:latin typeface="Arial"/>
              </a:rPr>
              <a:t>An order goes catalog → cart → checkout (quote) → confirmation → history</a:t>
            </a:r>
          </a:p>
          <a:p>
            <a:pPr marL="237490" indent="-237490">
              <a:spcBef>
                <a:spcPts val="990"/>
              </a:spcBef>
              <a:buClr>
                <a:srgbClr val="C2410C"/>
              </a:buClr>
              <a:buSzPct val="100000"/>
              <a:buFont typeface="Arial"/>
              <a:buChar char="•"/>
            </a:pPr>
            <a:r>
              <a:rPr sz="2200" b="0" lang="en-US">
                <a:solidFill>
                  <a:srgbClr val="0F172A"/>
                </a:solidFill>
                <a:latin typeface="Arial"/>
              </a:rPr>
              <a:t>Tier discounts, combos, gifts, taxes and credit can all act on the same order</a:t>
            </a:r>
          </a:p>
          <a:p>
            <a:pPr marL="237490" indent="-237490">
              <a:spcBef>
                <a:spcPts val="990"/>
              </a:spcBef>
              <a:buClr>
                <a:srgbClr val="C2410C"/>
              </a:buClr>
              <a:buSzPct val="100000"/>
              <a:buFont typeface="Arial"/>
              <a:buChar char="•"/>
            </a:pPr>
            <a:r>
              <a:rPr sz="2200" b="0" lang="en-US">
                <a:solidFill>
                  <a:srgbClr val="0F172A"/>
                </a:solidFill>
                <a:latin typeface="Arial"/>
              </a:rPr>
              <a:t>In three releases, an order was confirmed and its number returned, then it was missing from the history</a:t>
            </a:r>
          </a:p>
          <a:p>
            <a:pPr marL="237490" indent="-237490">
              <a:spcBef>
                <a:spcPts val="990"/>
              </a:spcBef>
              <a:buClr>
                <a:srgbClr val="C2410C"/>
              </a:buClr>
              <a:buSzPct val="100000"/>
              <a:buFont typeface="Arial"/>
              <a:buChar char="•"/>
            </a:pPr>
            <a:r>
              <a:rPr sz="2200" b="0" lang="en-US">
                <a:solidFill>
                  <a:srgbClr val="0F172A"/>
                </a:solidFill>
                <a:latin typeface="Arial"/>
              </a:rPr>
              <a:t>In some cases it had not even been recorded</a:t>
            </a:r>
          </a:p>
          <a:p>
            <a:pPr marL="237490" indent="-237490">
              <a:spcBef>
                <a:spcPts val="990"/>
              </a:spcBef>
              <a:buClr>
                <a:srgbClr val="C2410C"/>
              </a:buClr>
              <a:buSzPct val="100000"/>
              <a:buFont typeface="Arial"/>
              <a:buChar char="•"/>
            </a:pPr>
            <a:r>
              <a:rPr sz="2200" b="0" lang="en-US">
                <a:solidFill>
                  <a:srgbClr val="0F172A"/>
                </a:solidFill>
                <a:latin typeface="Arial"/>
              </a:rPr>
              <a:t>The task: make that impossible, and keep the quoted total equal to the confirmed total</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What was delivered</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398145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n-US">
                <a:solidFill>
                  <a:srgbClr val="0F172A"/>
                </a:solidFill>
                <a:latin typeface="Arial"/>
              </a:rPr>
              <a:t>A1: a pricing engine behind </a:t>
            </a:r>
            <a:r>
              <a:rPr sz="2200" b="0" lang="en-US">
                <a:solidFill>
                  <a:srgbClr val="C2410C"/>
                </a:solidFill>
                <a:latin typeface="Arial"/>
              </a:rPr>
              <a:t>POST /api/v1/quotes</a:t>
            </a:r>
            <a:r>
              <a:rPr sz="2200" b="0" lang="en-US">
                <a:solidFill>
                  <a:srgbClr val="0F172A"/>
                </a:solidFill>
                <a:latin typeface="Arial"/>
              </a:rPr>
              <a:t>, with the breakdown per line and totals</a:t>
            </a:r>
          </a:p>
          <a:p>
            <a:pPr marL="237490" indent="-237490">
              <a:spcBef>
                <a:spcPts val="990"/>
              </a:spcBef>
              <a:buClr>
                <a:srgbClr val="C2410C"/>
              </a:buClr>
              <a:buSzPct val="100000"/>
              <a:buFont typeface="Arial"/>
              <a:buChar char="•"/>
            </a:pPr>
            <a:r>
              <a:rPr sz="2200" b="0" lang="en-US">
                <a:solidFill>
                  <a:srgbClr val="0F172A"/>
                </a:solidFill>
                <a:latin typeface="Arial"/>
              </a:rPr>
              <a:t>A2: an idempotent </a:t>
            </a:r>
            <a:r>
              <a:rPr sz="2200" b="0" lang="en-US">
                <a:solidFill>
                  <a:srgbClr val="C2410C"/>
                </a:solidFill>
                <a:latin typeface="Arial"/>
              </a:rPr>
              <a:t>POST /api/v1/orders</a:t>
            </a:r>
            <a:r>
              <a:rPr sz="2200" b="0" lang="en-US">
                <a:solidFill>
                  <a:srgbClr val="0F172A"/>
                </a:solidFill>
                <a:latin typeface="Arial"/>
              </a:rPr>
              <a:t>, the order detail and the order history</a:t>
            </a:r>
          </a:p>
          <a:p>
            <a:pPr marL="237490" indent="-237490">
              <a:spcBef>
                <a:spcPts val="990"/>
              </a:spcBef>
              <a:buClr>
                <a:srgbClr val="C2410C"/>
              </a:buClr>
              <a:buSzPct val="100000"/>
              <a:buFont typeface="Arial"/>
              <a:buChar char="•"/>
            </a:pPr>
            <a:r>
              <a:rPr sz="2200" b="0" lang="en-US">
                <a:solidFill>
                  <a:srgbClr val="0F172A"/>
                </a:solidFill>
                <a:latin typeface="Arial"/>
              </a:rPr>
              <a:t>A3: one ADR of one page, in English and Spanish, as Markdown, Word and PDF</a:t>
            </a:r>
          </a:p>
          <a:p>
            <a:pPr marL="237490" indent="-237490">
              <a:spcBef>
                <a:spcPts val="990"/>
              </a:spcBef>
              <a:buClr>
                <a:srgbClr val="C2410C"/>
              </a:buClr>
              <a:buSzPct val="100000"/>
              <a:buFont typeface="Arial"/>
              <a:buChar char="•"/>
            </a:pPr>
            <a:r>
              <a:rPr sz="2200" b="0" lang="en-US">
                <a:solidFill>
                  <a:srgbClr val="0F172A"/>
                </a:solidFill>
                <a:latin typeface="Arial"/>
              </a:rPr>
              <a:t>The optional front, extended to the whole flow: cart, quote, confirmation, order and My orders</a:t>
            </a:r>
          </a:p>
          <a:p>
            <a:pPr marL="237490" indent="-237490">
              <a:spcBef>
                <a:spcPts val="990"/>
              </a:spcBef>
              <a:buClr>
                <a:srgbClr val="C2410C"/>
              </a:buClr>
              <a:buSzPct val="100000"/>
              <a:buFont typeface="Arial"/>
              <a:buChar char="•"/>
            </a:pPr>
            <a:r>
              <a:rPr sz="2200" b="0" lang="en-US">
                <a:solidFill>
                  <a:srgbClr val="0F172A"/>
                </a:solidFill>
                <a:latin typeface="Arial"/>
              </a:rPr>
              <a:t>The full stack with Docker Compose, and one command that runs every test of the workspace</a:t>
            </a:r>
          </a:p>
          <a:p>
            <a:pPr marL="237490" indent="-237490">
              <a:spcBef>
                <a:spcPts val="990"/>
              </a:spcBef>
              <a:buClr>
                <a:srgbClr val="C2410C"/>
              </a:buClr>
              <a:buSzPct val="100000"/>
              <a:buFont typeface="Arial"/>
              <a:buChar char="•"/>
            </a:pPr>
            <a:r>
              <a:rPr sz="2200" b="0" lang="en-US">
                <a:solidFill>
                  <a:srgbClr val="0F172A"/>
                </a:solidFill>
                <a:latin typeface="Arial"/>
              </a:rPr>
              <a:t>Specification, API contract, data model, nine diagrams and these delivery documents</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Six repositories</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343390"/>
          </a:xfrm>
          <a:prstGeom prst="rect">
            <a:avLst/>
          </a:prstGeom>
          <a:noFill/>
        </p:spPr>
        <p:txBody>
          <a:bodyPr wrap="square" anchor="t" lIns="0" rIns="0" tIns="0" bIns="0">
            <a:noAutofit/>
          </a:bodyPr>
          <a:lstStyle/>
          <a:p>
            <a:pPr marL="259080" indent="-259080">
              <a:buClr>
                <a:srgbClr val="C2410C"/>
              </a:buClr>
              <a:buSzPct val="100000"/>
              <a:buFont typeface="Arial"/>
              <a:buChar char="•"/>
            </a:pPr>
            <a:r>
              <a:rPr sz="2400" b="0" lang="en-US">
                <a:solidFill>
                  <a:srgbClr val="C2410C"/>
                </a:solidFill>
                <a:latin typeface="Arial"/>
              </a:rPr>
              <a:t>orderflow-engine-api</a:t>
            </a:r>
            <a:r>
              <a:rPr sz="2400" b="0" lang="en-US">
                <a:solidFill>
                  <a:srgbClr val="0F172A"/>
                </a:solidFill>
                <a:latin typeface="Arial"/>
              </a:rPr>
              <a:t>: the deliverable, with the code, the tests, the README and the ADR</a:t>
            </a:r>
          </a:p>
          <a:p>
            <a:pPr marL="259080" indent="-259080">
              <a:spcBef>
                <a:spcPts val="1080"/>
              </a:spcBef>
              <a:buClr>
                <a:srgbClr val="C2410C"/>
              </a:buClr>
              <a:buSzPct val="100000"/>
              <a:buFont typeface="Arial"/>
              <a:buChar char="•"/>
            </a:pPr>
            <a:r>
              <a:rPr sz="2400" b="0" lang="en-US">
                <a:solidFill>
                  <a:srgbClr val="C2410C"/>
                </a:solidFill>
                <a:latin typeface="Arial"/>
              </a:rPr>
              <a:t>orderflow-engine-web</a:t>
            </a:r>
            <a:r>
              <a:rPr sz="2400" b="0" lang="en-US">
                <a:solidFill>
                  <a:srgbClr val="0F172A"/>
                </a:solidFill>
                <a:latin typeface="Arial"/>
              </a:rPr>
              <a:t>: the Angular client, served by nginx</a:t>
            </a:r>
          </a:p>
          <a:p>
            <a:pPr marL="259080" indent="-259080">
              <a:spcBef>
                <a:spcPts val="1080"/>
              </a:spcBef>
              <a:buClr>
                <a:srgbClr val="C2410C"/>
              </a:buClr>
              <a:buSzPct val="100000"/>
              <a:buFont typeface="Arial"/>
              <a:buChar char="•"/>
            </a:pPr>
            <a:r>
              <a:rPr sz="2400" b="0" lang="en-US">
                <a:solidFill>
                  <a:srgbClr val="C2410C"/>
                </a:solidFill>
                <a:latin typeface="Arial"/>
              </a:rPr>
              <a:t>orderflow-engine-infra</a:t>
            </a:r>
            <a:r>
              <a:rPr sz="2400" b="0" lang="en-US">
                <a:solidFill>
                  <a:srgbClr val="0F172A"/>
                </a:solidFill>
                <a:latin typeface="Arial"/>
              </a:rPr>
              <a:t>: the full-stack compose, </a:t>
            </a:r>
            <a:r>
              <a:rPr sz="2400" b="0" lang="en-US">
                <a:solidFill>
                  <a:srgbClr val="C2410C"/>
                </a:solidFill>
                <a:latin typeface="Arial"/>
              </a:rPr>
              <a:t>test-all</a:t>
            </a:r>
            <a:r>
              <a:rPr sz="2400" b="0" lang="en-US">
                <a:solidFill>
                  <a:srgbClr val="0F172A"/>
                </a:solidFill>
                <a:latin typeface="Arial"/>
              </a:rPr>
              <a:t> and the end-to-end suite</a:t>
            </a:r>
          </a:p>
          <a:p>
            <a:pPr marL="259080" indent="-259080">
              <a:spcBef>
                <a:spcPts val="1080"/>
              </a:spcBef>
              <a:buClr>
                <a:srgbClr val="C2410C"/>
              </a:buClr>
              <a:buSzPct val="100000"/>
              <a:buFont typeface="Arial"/>
              <a:buChar char="•"/>
            </a:pPr>
            <a:r>
              <a:rPr sz="2400" b="0" lang="en-US">
                <a:solidFill>
                  <a:srgbClr val="C2410C"/>
                </a:solidFill>
                <a:latin typeface="Arial"/>
              </a:rPr>
              <a:t>orderflow-engine-docs</a:t>
            </a:r>
            <a:r>
              <a:rPr sz="2400" b="0" lang="en-US">
                <a:solidFill>
                  <a:srgbClr val="0F172A"/>
                </a:solidFill>
                <a:latin typeface="Arial"/>
              </a:rPr>
              <a:t>: specification, contract, data model, architecture, diagrams and handoff</a:t>
            </a:r>
          </a:p>
          <a:p>
            <a:pPr marL="259080" indent="-259080">
              <a:spcBef>
                <a:spcPts val="1080"/>
              </a:spcBef>
              <a:buClr>
                <a:srgbClr val="C2410C"/>
              </a:buClr>
              <a:buSzPct val="100000"/>
              <a:buFont typeface="Arial"/>
              <a:buChar char="•"/>
            </a:pPr>
            <a:r>
              <a:rPr sz="2400" b="0" lang="en-US">
                <a:solidFill>
                  <a:srgbClr val="C2410C"/>
                </a:solidFill>
                <a:latin typeface="Arial"/>
              </a:rPr>
              <a:t>orderflow-engine-tools</a:t>
            </a:r>
            <a:r>
              <a:rPr sz="2400" b="0" lang="en-US">
                <a:solidFill>
                  <a:srgbClr val="0F172A"/>
                </a:solidFill>
                <a:latin typeface="Arial"/>
              </a:rPr>
              <a:t>: generators and checks for the documents and the repositories</a:t>
            </a:r>
          </a:p>
          <a:p>
            <a:pPr marL="259080" indent="-259080">
              <a:spcBef>
                <a:spcPts val="1080"/>
              </a:spcBef>
              <a:buClr>
                <a:srgbClr val="C2410C"/>
              </a:buClr>
              <a:buSzPct val="100000"/>
              <a:buFont typeface="Arial"/>
              <a:buChar char="•"/>
            </a:pPr>
            <a:r>
              <a:rPr sz="2400" b="0" lang="en-US">
                <a:solidFill>
                  <a:srgbClr val="C2410C"/>
                </a:solidFill>
                <a:latin typeface="Arial"/>
              </a:rPr>
              <a:t>orderflow-engine-app</a:t>
            </a:r>
            <a:r>
              <a:rPr sz="2400" b="0" lang="en-US">
                <a:solidFill>
                  <a:srgbClr val="0F172A"/>
                </a:solidFill>
                <a:latin typeface="Arial"/>
              </a:rPr>
              <a:t>: reserved for a future mobile app, not built</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The six repositories at a glance</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Image" descr="The six repositories of the workspace and what each one takes from another"/>
          <p:cNvPicPr>
            <a:picLocks noChangeAspect="1"/>
          </p:cNvPicPr>
          <p:nvPr/>
        </p:nvPicPr>
        <p:blipFill>
          <a:blip r:embed="rId2"/>
          <a:stretch>
            <a:fillRect/>
          </a:stretch>
        </p:blipFill>
        <p:spPr>
          <a:xfrm>
            <a:off x="1688202" y="1508760"/>
            <a:ext cx="8815596" cy="4315969"/>
          </a:xfrm>
          <a:prstGeom prst="rect">
            <a:avLst/>
          </a:prstGeom>
          <a:ln w="9525">
            <a:solidFill>
              <a:srgbClr val="E2E8F0"/>
            </a:solidFill>
          </a:ln>
        </p:spPr>
      </p:pic>
      <p:sp>
        <p:nvSpPr>
          <p:cNvPr id="6" name="Caption"/>
          <p:cNvSpPr txBox="1"/>
          <p:nvPr/>
        </p:nvSpPr>
        <p:spPr>
          <a:xfrm>
            <a:off x="548640" y="5897881"/>
            <a:ext cx="11094720" cy="182879"/>
          </a:xfrm>
          <a:prstGeom prst="rect">
            <a:avLst/>
          </a:prstGeom>
          <a:noFill/>
        </p:spPr>
        <p:txBody>
          <a:bodyPr wrap="square" anchor="t" lIns="0" rIns="0" tIns="0" bIns="0">
            <a:noAutofit/>
          </a:bodyPr>
          <a:lstStyle/>
          <a:p>
            <a:pPr algn="ctr"/>
            <a:r>
              <a:rPr sz="1200" b="0" lang="en-US">
                <a:solidFill>
                  <a:srgbClr val="475569"/>
                </a:solidFill>
                <a:latin typeface="Arial"/>
              </a:rPr>
              <a:t>The six repositories of the workspace and what each one takes from another</a:t>
            </a:r>
          </a:p>
        </p:txBody>
      </p:sp>
      <p:sp>
        <p:nvSpPr>
          <p:cNvPr id="7"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9"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Runtime topology</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4251960"/>
          </a:xfrm>
          <a:prstGeom prst="rect">
            <a:avLst/>
          </a:prstGeom>
          <a:noFill/>
        </p:spPr>
        <p:txBody>
          <a:bodyPr wrap="square" anchor="t" lIns="0" rIns="0" tIns="0" bIns="0">
            <a:noAutofit/>
          </a:bodyPr>
          <a:lstStyle/>
          <a:p>
            <a:pPr marL="194310" indent="-194310">
              <a:buClr>
                <a:srgbClr val="C2410C"/>
              </a:buClr>
              <a:buSzPct val="100000"/>
              <a:buFont typeface="Arial"/>
              <a:buChar char="•"/>
            </a:pPr>
            <a:r>
              <a:rPr sz="1800" b="0" lang="en-US">
                <a:solidFill>
                  <a:srgbClr val="0F172A"/>
                </a:solidFill>
                <a:latin typeface="Arial"/>
              </a:rPr>
              <a:t>One origin: nginx serves the Angular client and forwards </a:t>
            </a:r>
            <a:r>
              <a:rPr sz="1800" b="0" lang="en-US">
                <a:solidFill>
                  <a:srgbClr val="C2410C"/>
                </a:solidFill>
                <a:latin typeface="Arial"/>
              </a:rPr>
              <a:t>/api/</a:t>
            </a:r>
            <a:r>
              <a:rPr sz="1800" b="0" lang="en-US">
                <a:solidFill>
                  <a:srgbClr val="0F172A"/>
                </a:solidFill>
                <a:latin typeface="Arial"/>
              </a:rPr>
              <a:t> to the API, so no CORS</a:t>
            </a:r>
          </a:p>
          <a:p>
            <a:pPr marL="194310" indent="-194310">
              <a:spcBef>
                <a:spcPts val="810"/>
              </a:spcBef>
              <a:buClr>
                <a:srgbClr val="C2410C"/>
              </a:buClr>
              <a:buSzPct val="100000"/>
              <a:buFont typeface="Arial"/>
              <a:buChar char="•"/>
            </a:pPr>
            <a:r>
              <a:rPr sz="1800" b="0" lang="en-US">
                <a:solidFill>
                  <a:srgbClr val="0F172A"/>
                </a:solidFill>
                <a:latin typeface="Arial"/>
              </a:rPr>
              <a:t>One Spring Boot 4.1.1 service on Java 21: web adapter, use cases, pure engine, persistence</a:t>
            </a:r>
          </a:p>
          <a:p>
            <a:pPr marL="194310" indent="-194310">
              <a:spcBef>
                <a:spcPts val="810"/>
              </a:spcBef>
              <a:buClr>
                <a:srgbClr val="C2410C"/>
              </a:buClr>
              <a:buSzPct val="100000"/>
              <a:buFont typeface="Arial"/>
              <a:buChar char="•"/>
            </a:pPr>
            <a:r>
              <a:rPr sz="1800" b="0" lang="en-US">
                <a:solidFill>
                  <a:srgbClr val="0F172A"/>
                </a:solidFill>
                <a:latin typeface="Arial"/>
              </a:rPr>
              <a:t>PostgreSQL 17 is the single source of truth: explicit SQL and row locks</a:t>
            </a:r>
          </a:p>
          <a:p>
            <a:pPr marL="194310" indent="-194310">
              <a:spcBef>
                <a:spcPts val="810"/>
              </a:spcBef>
              <a:buClr>
                <a:srgbClr val="C2410C"/>
              </a:buClr>
              <a:buSzPct val="100000"/>
              <a:buFont typeface="Arial"/>
              <a:buChar char="•"/>
            </a:pPr>
            <a:r>
              <a:rPr sz="1800" b="0" lang="en-US">
                <a:solidFill>
                  <a:srgbClr val="0F172A"/>
                </a:solidFill>
                <a:latin typeface="Arial"/>
              </a:rPr>
              <a:t>Push and the ERP are called only by the outbox relay, after the order is committed</a:t>
            </a:r>
          </a:p>
          <a:p>
            <a:pPr marL="194310" indent="-194310">
              <a:spcBef>
                <a:spcPts val="810"/>
              </a:spcBef>
              <a:buClr>
                <a:srgbClr val="C2410C"/>
              </a:buClr>
              <a:buSzPct val="100000"/>
              <a:buFont typeface="Arial"/>
              <a:buChar char="•"/>
            </a:pPr>
            <a:r>
              <a:rPr sz="1800" b="0" lang="en-US">
                <a:solidFill>
                  <a:srgbClr val="0F172A"/>
                </a:solidFill>
                <a:latin typeface="Arial"/>
              </a:rPr>
              <a:t>In this delivery, push and the ERP are fakes behind ports that deduplicate by </a:t>
            </a:r>
            <a:r>
              <a:rPr sz="1800" b="0" lang="en-US">
                <a:solidFill>
                  <a:srgbClr val="C2410C"/>
                </a:solidFill>
                <a:latin typeface="Arial"/>
              </a:rPr>
              <a:t>event_id</a:t>
            </a:r>
          </a:p>
        </p:txBody>
      </p:sp>
      <p:pic>
        <p:nvPicPr>
          <p:cNvPr id="6" name="Image" descr="Runtime topology: one service, one database, effects only through the outbox"/>
          <p:cNvPicPr>
            <a:picLocks noChangeAspect="1"/>
          </p:cNvPicPr>
          <p:nvPr/>
        </p:nvPicPr>
        <p:blipFill>
          <a:blip r:embed="rId2"/>
          <a:stretch>
            <a:fillRect/>
          </a:stretch>
        </p:blipFill>
        <p:spPr>
          <a:xfrm>
            <a:off x="5791200" y="1898904"/>
            <a:ext cx="5852160" cy="3535680"/>
          </a:xfrm>
          <a:prstGeom prst="rect">
            <a:avLst/>
          </a:prstGeom>
          <a:ln w="9525">
            <a:solidFill>
              <a:srgbClr val="E2E8F0"/>
            </a:solidFill>
          </a:ln>
        </p:spPr>
      </p:pic>
      <p:sp>
        <p:nvSpPr>
          <p:cNvPr id="7" name="Caption"/>
          <p:cNvSpPr txBox="1"/>
          <p:nvPr/>
        </p:nvSpPr>
        <p:spPr>
          <a:xfrm>
            <a:off x="5791200" y="5507736"/>
            <a:ext cx="5852160" cy="182879"/>
          </a:xfrm>
          <a:prstGeom prst="rect">
            <a:avLst/>
          </a:prstGeom>
          <a:noFill/>
        </p:spPr>
        <p:txBody>
          <a:bodyPr wrap="square" anchor="t" lIns="0" rIns="0" tIns="0" bIns="0">
            <a:noAutofit/>
          </a:bodyPr>
          <a:lstStyle/>
          <a:p>
            <a:pPr algn="ctr"/>
            <a:r>
              <a:rPr sz="1200" b="0" lang="en-US">
                <a:solidFill>
                  <a:srgbClr val="475569"/>
                </a:solidFill>
                <a:latin typeface="Arial"/>
              </a:rPr>
              <a:t>Runtime topology: one service, one database, effects only through the outbox</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Step 1: choose a store and fill the cart</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4354830"/>
          </a:xfrm>
          <a:prstGeom prst="rect">
            <a:avLst/>
          </a:prstGeom>
          <a:noFill/>
        </p:spPr>
        <p:txBody>
          <a:bodyPr wrap="square" anchor="t" lIns="0" rIns="0" tIns="0" bIns="0">
            <a:noAutofit/>
          </a:bodyPr>
          <a:lstStyle/>
          <a:p>
            <a:pPr marL="194310" indent="-194310">
              <a:buClr>
                <a:srgbClr val="C2410C"/>
              </a:buClr>
              <a:buSzPct val="100000"/>
              <a:buFont typeface="Arial"/>
              <a:buChar char="•"/>
            </a:pPr>
            <a:r>
              <a:rPr sz="1800" b="0" lang="en-US">
                <a:solidFill>
                  <a:srgbClr val="0F172A"/>
                </a:solidFill>
                <a:latin typeface="Arial"/>
              </a:rPr>
              <a:t>The store picker lists eight seeded stores, two per country, grouped by tenant</a:t>
            </a:r>
          </a:p>
          <a:p>
            <a:pPr marL="194310" indent="-194310">
              <a:spcBef>
                <a:spcPts val="810"/>
              </a:spcBef>
              <a:buClr>
                <a:srgbClr val="C2410C"/>
              </a:buClr>
              <a:buSzPct val="100000"/>
              <a:buFont typeface="Arial"/>
              <a:buChar char="•"/>
            </a:pPr>
            <a:r>
              <a:rPr sz="1800" b="0" lang="en-US">
                <a:solidFill>
                  <a:srgbClr val="0F172A"/>
                </a:solidFill>
                <a:latin typeface="Arial"/>
              </a:rPr>
              <a:t>The cart reads the tenant's products from the API on every visit (</a:t>
            </a:r>
            <a:r>
              <a:rPr sz="1800" b="0" lang="en-US">
                <a:solidFill>
                  <a:srgbClr val="C2410C"/>
                </a:solidFill>
                <a:latin typeface="Arial"/>
              </a:rPr>
              <a:t>GET /api/v1/products</a:t>
            </a:r>
            <a:r>
              <a:rPr sz="1800" b="0" lang="en-US">
                <a:solidFill>
                  <a:srgbClr val="0F172A"/>
                </a:solidFill>
                <a:latin typeface="Arial"/>
              </a:rPr>
              <a:t>)</a:t>
            </a:r>
          </a:p>
          <a:p>
            <a:pPr marL="194310" indent="-194310">
              <a:spcBef>
                <a:spcPts val="810"/>
              </a:spcBef>
              <a:buClr>
                <a:srgbClr val="C2410C"/>
              </a:buClr>
              <a:buSzPct val="100000"/>
              <a:buFont typeface="Arial"/>
              <a:buChar char="•"/>
            </a:pPr>
            <a:r>
              <a:rPr sz="1800" b="0" lang="en-US">
                <a:solidFill>
                  <a:srgbClr val="0F172A"/>
                </a:solidFill>
                <a:latin typeface="Arial"/>
              </a:rPr>
              <a:t>Each product shows its image, name, SKU, list price before taxes and tax rate</a:t>
            </a:r>
          </a:p>
          <a:p>
            <a:pPr marL="194310" indent="-194310">
              <a:spcBef>
                <a:spcPts val="810"/>
              </a:spcBef>
              <a:buClr>
                <a:srgbClr val="C2410C"/>
              </a:buClr>
              <a:buSzPct val="100000"/>
              <a:buFont typeface="Arial"/>
              <a:buChar char="•"/>
            </a:pPr>
            <a:r>
              <a:rPr sz="1800" b="0" lang="en-US">
                <a:solidFill>
                  <a:srgbClr val="0F172A"/>
                </a:solidFill>
                <a:latin typeface="Arial"/>
              </a:rPr>
              <a:t>"Prices in COP" names the currency, because COP and USD share the </a:t>
            </a:r>
            <a:r>
              <a:rPr sz="1800" b="0" lang="en-US">
                <a:solidFill>
                  <a:srgbClr val="C2410C"/>
                </a:solidFill>
                <a:latin typeface="Arial"/>
              </a:rPr>
              <a:t>$</a:t>
            </a:r>
            <a:r>
              <a:rPr sz="1800" b="0" lang="en-US">
                <a:solidFill>
                  <a:srgbClr val="0F172A"/>
                </a:solidFill>
                <a:latin typeface="Arial"/>
              </a:rPr>
              <a:t> symbol</a:t>
            </a:r>
          </a:p>
          <a:p>
            <a:pPr marL="194310" indent="-194310">
              <a:spcBef>
                <a:spcPts val="810"/>
              </a:spcBef>
              <a:buClr>
                <a:srgbClr val="C2410C"/>
              </a:buClr>
              <a:buSzPct val="100000"/>
              <a:buFont typeface="Arial"/>
              <a:buChar char="•"/>
            </a:pPr>
            <a:r>
              <a:rPr sz="1800" b="0" lang="en-US">
                <a:solidFill>
                  <a:srgbClr val="0F172A"/>
                </a:solidFill>
                <a:latin typeface="Arial"/>
              </a:rPr>
              <a:t>Choose cash or credit, then tap "Get quote"</a:t>
            </a:r>
          </a:p>
          <a:p>
            <a:pPr marL="194310" indent="-194310">
              <a:spcBef>
                <a:spcPts val="810"/>
              </a:spcBef>
              <a:buClr>
                <a:srgbClr val="C2410C"/>
              </a:buClr>
              <a:buSzPct val="100000"/>
              <a:buFont typeface="Arial"/>
              <a:buChar char="•"/>
            </a:pPr>
            <a:r>
              <a:rPr sz="1800" b="0" lang="en-US">
                <a:solidFill>
                  <a:srgbClr val="0F172A"/>
                </a:solidFill>
                <a:latin typeface="Arial"/>
              </a:rPr>
              <a:t>The cart shows units only: no subtotal and no total until the quote</a:t>
            </a:r>
          </a:p>
        </p:txBody>
      </p:sp>
      <p:pic>
        <p:nvPicPr>
          <p:cNvPr id="6" name="Image" descr="The cart: the tenant's catalog with list prices before taxes"/>
          <p:cNvPicPr>
            <a:picLocks noChangeAspect="1"/>
          </p:cNvPicPr>
          <p:nvPr/>
        </p:nvPicPr>
        <p:blipFill>
          <a:blip r:embed="rId2"/>
          <a:stretch>
            <a:fillRect/>
          </a:stretch>
        </p:blipFill>
        <p:spPr>
          <a:xfrm>
            <a:off x="5791200" y="1744218"/>
            <a:ext cx="5852160" cy="3845052"/>
          </a:xfrm>
          <a:prstGeom prst="rect">
            <a:avLst/>
          </a:prstGeom>
          <a:ln w="9525">
            <a:solidFill>
              <a:srgbClr val="E2E8F0"/>
            </a:solidFill>
          </a:ln>
        </p:spPr>
      </p:pic>
      <p:sp>
        <p:nvSpPr>
          <p:cNvPr id="7" name="Caption"/>
          <p:cNvSpPr txBox="1"/>
          <p:nvPr/>
        </p:nvSpPr>
        <p:spPr>
          <a:xfrm>
            <a:off x="5791200" y="5662422"/>
            <a:ext cx="5852160" cy="182879"/>
          </a:xfrm>
          <a:prstGeom prst="rect">
            <a:avLst/>
          </a:prstGeom>
          <a:noFill/>
        </p:spPr>
        <p:txBody>
          <a:bodyPr wrap="square" anchor="t" lIns="0" rIns="0" tIns="0" bIns="0">
            <a:noAutofit/>
          </a:bodyPr>
          <a:lstStyle/>
          <a:p>
            <a:pPr algn="ctr"/>
            <a:r>
              <a:rPr sz="1200" b="0" lang="en-US">
                <a:solidFill>
                  <a:srgbClr val="475569"/>
                </a:solidFill>
                <a:latin typeface="Arial"/>
              </a:rPr>
              <a:t>The cart: the tenant's catalog with list prices before taxes</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Step 2: get the quote</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7802880" cy="3505200"/>
          </a:xfrm>
          <a:prstGeom prst="rect">
            <a:avLst/>
          </a:prstGeom>
          <a:noFill/>
        </p:spPr>
        <p:txBody>
          <a:bodyPr wrap="square" anchor="t" lIns="0" rIns="0" tIns="0" bIns="0">
            <a:noAutofit/>
          </a:bodyPr>
          <a:lstStyle/>
          <a:p>
            <a:pPr marL="215900" indent="-215900">
              <a:buClr>
                <a:srgbClr val="C2410C"/>
              </a:buClr>
              <a:buSzPct val="100000"/>
              <a:buFont typeface="Arial"/>
              <a:buChar char="•"/>
            </a:pPr>
            <a:r>
              <a:rPr sz="2000" b="0" lang="en-US">
                <a:solidFill>
                  <a:srgbClr val="C2410C"/>
                </a:solidFill>
                <a:latin typeface="Arial"/>
              </a:rPr>
              <a:t>POST /api/v1/quotes</a:t>
            </a:r>
            <a:r>
              <a:rPr sz="2000" b="0" lang="en-US">
                <a:solidFill>
                  <a:srgbClr val="0F172A"/>
                </a:solidFill>
                <a:latin typeface="Arial"/>
              </a:rPr>
              <a:t> prices the cart once and seals the quote</a:t>
            </a:r>
          </a:p>
          <a:p>
            <a:pPr marL="215900" indent="-215900">
              <a:spcBef>
                <a:spcPts val="900"/>
              </a:spcBef>
              <a:buClr>
                <a:srgbClr val="C2410C"/>
              </a:buClr>
              <a:buSzPct val="100000"/>
              <a:buFont typeface="Arial"/>
              <a:buChar char="•"/>
            </a:pPr>
            <a:r>
              <a:rPr sz="2000" b="0" lang="en-US">
                <a:solidFill>
                  <a:srgbClr val="0F172A"/>
                </a:solidFill>
                <a:latin typeface="Arial"/>
              </a:rPr>
              <a:t>The summary shows each line, the order totals and the time until which the price is held</a:t>
            </a:r>
          </a:p>
          <a:p>
            <a:pPr marL="215900" indent="-215900">
              <a:spcBef>
                <a:spcPts val="900"/>
              </a:spcBef>
              <a:buClr>
                <a:srgbClr val="C2410C"/>
              </a:buClr>
              <a:buSzPct val="100000"/>
              <a:buFont typeface="Arial"/>
              <a:buChar char="•"/>
            </a:pPr>
            <a:r>
              <a:rPr sz="2000" b="0" lang="en-US">
                <a:solidFill>
                  <a:srgbClr val="0F172A"/>
                </a:solidFill>
                <a:latin typeface="Arial"/>
              </a:rPr>
              <a:t>The price is held for 15 minutes, a time to live set per country</a:t>
            </a:r>
          </a:p>
          <a:p>
            <a:pPr marL="215900" indent="-215900">
              <a:spcBef>
                <a:spcPts val="900"/>
              </a:spcBef>
              <a:buClr>
                <a:srgbClr val="C2410C"/>
              </a:buClr>
              <a:buSzPct val="100000"/>
              <a:buFont typeface="Arial"/>
              <a:buChar char="•"/>
            </a:pPr>
            <a:r>
              <a:rPr sz="2000" b="0" lang="en-US">
                <a:solidFill>
                  <a:srgbClr val="0F172A"/>
                </a:solidFill>
                <a:latin typeface="Arial"/>
              </a:rPr>
              <a:t>On credit, it shows the available credit and whether the order fits; nothing is reserved yet</a:t>
            </a:r>
          </a:p>
          <a:p>
            <a:pPr marL="215900" indent="-215900">
              <a:spcBef>
                <a:spcPts val="900"/>
              </a:spcBef>
              <a:buClr>
                <a:srgbClr val="C2410C"/>
              </a:buClr>
              <a:buSzPct val="100000"/>
              <a:buFont typeface="Arial"/>
              <a:buChar char="•"/>
            </a:pPr>
            <a:r>
              <a:rPr sz="2000" b="0" lang="en-US">
                <a:solidFill>
                  <a:srgbClr val="0F172A"/>
                </a:solidFill>
                <a:latin typeface="Arial"/>
              </a:rPr>
              <a:t>If it does not fit, "Confirm order" is disabled and "Pay cash" quotes again in cash</a:t>
            </a:r>
          </a:p>
        </p:txBody>
      </p:sp>
      <p:pic>
        <p:nvPicPr>
          <p:cNvPr id="6" name="Image" descr="The order summary: lines, totals and the time the price is held"/>
          <p:cNvPicPr>
            <a:picLocks noChangeAspect="1"/>
          </p:cNvPicPr>
          <p:nvPr/>
        </p:nvPicPr>
        <p:blipFill>
          <a:blip r:embed="rId2"/>
          <a:stretch>
            <a:fillRect/>
          </a:stretch>
        </p:blipFill>
        <p:spPr>
          <a:xfrm>
            <a:off x="8978413" y="1508760"/>
            <a:ext cx="2403814" cy="4133090"/>
          </a:xfrm>
          <a:prstGeom prst="rect">
            <a:avLst/>
          </a:prstGeom>
          <a:ln w="9525">
            <a:solidFill>
              <a:srgbClr val="E2E8F0"/>
            </a:solidFill>
          </a:ln>
        </p:spPr>
      </p:pic>
      <p:sp>
        <p:nvSpPr>
          <p:cNvPr id="7" name="Caption"/>
          <p:cNvSpPr txBox="1"/>
          <p:nvPr/>
        </p:nvSpPr>
        <p:spPr>
          <a:xfrm>
            <a:off x="8717280" y="5715002"/>
            <a:ext cx="2926080" cy="365758"/>
          </a:xfrm>
          <a:prstGeom prst="rect">
            <a:avLst/>
          </a:prstGeom>
          <a:noFill/>
        </p:spPr>
        <p:txBody>
          <a:bodyPr wrap="square" anchor="t" lIns="0" rIns="0" tIns="0" bIns="0">
            <a:noAutofit/>
          </a:bodyPr>
          <a:lstStyle/>
          <a:p>
            <a:pPr algn="ctr"/>
            <a:r>
              <a:rPr sz="1200" b="0" lang="en-US">
                <a:solidFill>
                  <a:srgbClr val="475569"/>
                </a:solidFill>
                <a:latin typeface="Arial"/>
              </a:rPr>
              <a:t>The order summary: lines, totals and the time the price is held</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Step 3: read the levers on the quote</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6956698" cy="3505200"/>
          </a:xfrm>
          <a:prstGeom prst="rect">
            <a:avLst/>
          </a:prstGeom>
          <a:noFill/>
        </p:spPr>
        <p:txBody>
          <a:bodyPr wrap="square" anchor="t" lIns="0" rIns="0" tIns="0" bIns="0">
            <a:noAutofit/>
          </a:bodyPr>
          <a:lstStyle/>
          <a:p>
            <a:pPr marL="215900" indent="-215900">
              <a:buClr>
                <a:srgbClr val="C2410C"/>
              </a:buClr>
              <a:buSzPct val="100000"/>
              <a:buFont typeface="Arial"/>
              <a:buChar char="•"/>
            </a:pPr>
            <a:r>
              <a:rPr sz="2000" b="0" lang="en-US">
                <a:solidFill>
                  <a:srgbClr val="0F172A"/>
                </a:solidFill>
                <a:latin typeface="Arial"/>
              </a:rPr>
              <a:t>Each discount shows its origin: "Volume discount" for a tier, or "Combo"</a:t>
            </a:r>
          </a:p>
          <a:p>
            <a:pPr marL="215900" indent="-215900">
              <a:spcBef>
                <a:spcPts val="900"/>
              </a:spcBef>
              <a:buClr>
                <a:srgbClr val="C2410C"/>
              </a:buClr>
              <a:buSzPct val="100000"/>
              <a:buFont typeface="Arial"/>
              <a:buChar char="•"/>
            </a:pPr>
            <a:r>
              <a:rPr sz="2000" b="0" lang="en-US">
                <a:solidFill>
                  <a:srgbClr val="0F172A"/>
                </a:solidFill>
                <a:latin typeface="Arial"/>
              </a:rPr>
              <a:t>A combo is one discount entry, and its products never show a loose discount</a:t>
            </a:r>
          </a:p>
          <a:p>
            <a:pPr marL="215900" indent="-215900">
              <a:spcBef>
                <a:spcPts val="900"/>
              </a:spcBef>
              <a:buClr>
                <a:srgbClr val="C2410C"/>
              </a:buClr>
              <a:buSzPct val="100000"/>
              <a:buFont typeface="Arial"/>
              <a:buChar char="•"/>
            </a:pPr>
            <a:r>
              <a:rPr sz="2000" b="0" lang="en-US">
                <a:solidFill>
                  <a:srgbClr val="0F172A"/>
                </a:solidFill>
                <a:latin typeface="Arial"/>
              </a:rPr>
              <a:t>A line inside a combo shows its "Combo share", used only to derive its taxable base</a:t>
            </a:r>
          </a:p>
          <a:p>
            <a:pPr marL="215900" indent="-215900">
              <a:spcBef>
                <a:spcPts val="900"/>
              </a:spcBef>
              <a:buClr>
                <a:srgbClr val="C2410C"/>
              </a:buClr>
              <a:buSzPct val="100000"/>
              <a:buFont typeface="Arial"/>
              <a:buChar char="•"/>
            </a:pPr>
            <a:r>
              <a:rPr sz="2000" b="0" lang="en-US">
                <a:solidFill>
                  <a:srgbClr val="0F172A"/>
                </a:solidFill>
                <a:latin typeface="Arial"/>
              </a:rPr>
              <a:t>A gift is a separate line with its quantity, free, with its reference value</a:t>
            </a:r>
          </a:p>
          <a:p>
            <a:pPr marL="215900" indent="-215900">
              <a:spcBef>
                <a:spcPts val="900"/>
              </a:spcBef>
              <a:buClr>
                <a:srgbClr val="C2410C"/>
              </a:buClr>
              <a:buSzPct val="100000"/>
              <a:buFont typeface="Arial"/>
              <a:buChar char="•"/>
            </a:pPr>
            <a:r>
              <a:rPr sz="2000" b="0" lang="en-US">
                <a:solidFill>
                  <a:srgbClr val="0F172A"/>
                </a:solidFill>
                <a:latin typeface="Arial"/>
              </a:rPr>
              <a:t>The taxable base, the taxes and the total close the breakdown</a:t>
            </a:r>
          </a:p>
        </p:txBody>
      </p:sp>
      <p:pic>
        <p:nvPicPr>
          <p:cNvPr id="6" name="Image" descr="The breakdown of the quote with the levers applied"/>
          <p:cNvPicPr>
            <a:picLocks noChangeAspect="1"/>
          </p:cNvPicPr>
          <p:nvPr/>
        </p:nvPicPr>
        <p:blipFill>
          <a:blip r:embed="rId2"/>
          <a:stretch>
            <a:fillRect/>
          </a:stretch>
        </p:blipFill>
        <p:spPr>
          <a:xfrm>
            <a:off x="7951018" y="1508760"/>
            <a:ext cx="3612422" cy="4133090"/>
          </a:xfrm>
          <a:prstGeom prst="rect">
            <a:avLst/>
          </a:prstGeom>
          <a:ln w="9525">
            <a:solidFill>
              <a:srgbClr val="E2E8F0"/>
            </a:solidFill>
          </a:ln>
        </p:spPr>
      </p:pic>
      <p:sp>
        <p:nvSpPr>
          <p:cNvPr id="7" name="Caption"/>
          <p:cNvSpPr txBox="1"/>
          <p:nvPr/>
        </p:nvSpPr>
        <p:spPr>
          <a:xfrm>
            <a:off x="7871098" y="5715002"/>
            <a:ext cx="3772262" cy="365758"/>
          </a:xfrm>
          <a:prstGeom prst="rect">
            <a:avLst/>
          </a:prstGeom>
          <a:noFill/>
        </p:spPr>
        <p:txBody>
          <a:bodyPr wrap="square" anchor="t" lIns="0" rIns="0" tIns="0" bIns="0">
            <a:noAutofit/>
          </a:bodyPr>
          <a:lstStyle/>
          <a:p>
            <a:pPr algn="ctr"/>
            <a:r>
              <a:rPr sz="1200" b="0" lang="en-US">
                <a:solidFill>
                  <a:srgbClr val="475569"/>
                </a:solidFill>
                <a:latin typeface="Arial"/>
              </a:rPr>
              <a:t>The breakdown of the quote with the levers applied</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Step 4: confirm the order</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3977640"/>
          </a:xfrm>
          <a:prstGeom prst="rect">
            <a:avLst/>
          </a:prstGeom>
          <a:noFill/>
        </p:spPr>
        <p:txBody>
          <a:bodyPr wrap="square" anchor="t" lIns="0" rIns="0" tIns="0" bIns="0">
            <a:noAutofit/>
          </a:bodyPr>
          <a:lstStyle/>
          <a:p>
            <a:pPr marL="194310" indent="-194310">
              <a:buClr>
                <a:srgbClr val="C2410C"/>
              </a:buClr>
              <a:buSzPct val="100000"/>
              <a:buFont typeface="Arial"/>
              <a:buChar char="•"/>
            </a:pPr>
            <a:r>
              <a:rPr sz="1800" b="0" lang="en-US">
                <a:solidFill>
                  <a:srgbClr val="0F172A"/>
                </a:solidFill>
                <a:latin typeface="Arial"/>
              </a:rPr>
              <a:t>"Confirm order" creates one idempotency key for the quote and keeps it in the browser</a:t>
            </a:r>
          </a:p>
          <a:p>
            <a:pPr marL="194310" indent="-194310">
              <a:spcBef>
                <a:spcPts val="810"/>
              </a:spcBef>
              <a:buClr>
                <a:srgbClr val="C2410C"/>
              </a:buClr>
              <a:buSzPct val="100000"/>
              <a:buFont typeface="Arial"/>
              <a:buChar char="•"/>
            </a:pPr>
            <a:r>
              <a:rPr sz="1800" b="0" lang="en-US">
                <a:solidFill>
                  <a:srgbClr val="0F172A"/>
                </a:solidFill>
                <a:latin typeface="Arial"/>
              </a:rPr>
              <a:t>The button is disabled while the request is in flight, so a double tap sends one request</a:t>
            </a:r>
          </a:p>
          <a:p>
            <a:pPr marL="194310" indent="-194310">
              <a:spcBef>
                <a:spcPts val="810"/>
              </a:spcBef>
              <a:buClr>
                <a:srgbClr val="C2410C"/>
              </a:buClr>
              <a:buSzPct val="100000"/>
              <a:buFont typeface="Arial"/>
              <a:buChar char="•"/>
            </a:pPr>
            <a:r>
              <a:rPr sz="1800" b="0" lang="en-US">
                <a:solidFill>
                  <a:srgbClr val="0F172A"/>
                </a:solidFill>
                <a:latin typeface="Arial"/>
              </a:rPr>
              <a:t>A retry after no answer, a 5xx or a reload sends the same key</a:t>
            </a:r>
          </a:p>
          <a:p>
            <a:pPr marL="194310" indent="-194310">
              <a:spcBef>
                <a:spcPts val="810"/>
              </a:spcBef>
              <a:buClr>
                <a:srgbClr val="C2410C"/>
              </a:buClr>
              <a:buSzPct val="100000"/>
              <a:buFont typeface="Arial"/>
              <a:buChar char="•"/>
            </a:pPr>
            <a:r>
              <a:rPr sz="1800" b="0" lang="en-US">
                <a:solidFill>
                  <a:srgbClr val="0F172A"/>
                </a:solidFill>
                <a:latin typeface="Arial"/>
              </a:rPr>
              <a:t>A 201 opens the order with its number and the notice "Order confirmed"</a:t>
            </a:r>
          </a:p>
          <a:p>
            <a:pPr marL="194310" indent="-194310">
              <a:spcBef>
                <a:spcPts val="810"/>
              </a:spcBef>
              <a:buClr>
                <a:srgbClr val="C2410C"/>
              </a:buClr>
              <a:buSzPct val="100000"/>
              <a:buFont typeface="Arial"/>
              <a:buChar char="•"/>
            </a:pPr>
            <a:r>
              <a:rPr sz="1800" b="0" lang="en-US">
                <a:solidFill>
                  <a:srgbClr val="0F172A"/>
                </a:solidFill>
                <a:latin typeface="Arial"/>
              </a:rPr>
              <a:t>A replayed 201 says "This order was already recorded": no second order, no extra credit used</a:t>
            </a:r>
          </a:p>
        </p:txBody>
      </p:sp>
      <p:pic>
        <p:nvPicPr>
          <p:cNvPr id="6" name="Image" descr="The order right after its confirmation, with its number"/>
          <p:cNvPicPr>
            <a:picLocks noChangeAspect="1"/>
          </p:cNvPicPr>
          <p:nvPr/>
        </p:nvPicPr>
        <p:blipFill>
          <a:blip r:embed="rId2"/>
          <a:stretch>
            <a:fillRect/>
          </a:stretch>
        </p:blipFill>
        <p:spPr>
          <a:xfrm>
            <a:off x="5791200" y="1837944"/>
            <a:ext cx="5852160" cy="3657600"/>
          </a:xfrm>
          <a:prstGeom prst="rect">
            <a:avLst/>
          </a:prstGeom>
          <a:ln w="9525">
            <a:solidFill>
              <a:srgbClr val="E2E8F0"/>
            </a:solidFill>
          </a:ln>
        </p:spPr>
      </p:pic>
      <p:sp>
        <p:nvSpPr>
          <p:cNvPr id="7" name="Caption"/>
          <p:cNvSpPr txBox="1"/>
          <p:nvPr/>
        </p:nvSpPr>
        <p:spPr>
          <a:xfrm>
            <a:off x="5791200" y="5568696"/>
            <a:ext cx="5852160" cy="182879"/>
          </a:xfrm>
          <a:prstGeom prst="rect">
            <a:avLst/>
          </a:prstGeom>
          <a:noFill/>
        </p:spPr>
        <p:txBody>
          <a:bodyPr wrap="square" anchor="t" lIns="0" rIns="0" tIns="0" bIns="0">
            <a:noAutofit/>
          </a:bodyPr>
          <a:lstStyle/>
          <a:p>
            <a:pPr algn="ctr"/>
            <a:r>
              <a:rPr sz="1200" b="0" lang="en-US">
                <a:solidFill>
                  <a:srgbClr val="475569"/>
                </a:solidFill>
                <a:latin typeface="Arial"/>
              </a:rPr>
              <a:t>The order right after its confirmation, with its number</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Step 5: find it in My orders</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4419600"/>
          </a:xfrm>
          <a:prstGeom prst="rect">
            <a:avLst/>
          </a:prstGeom>
          <a:noFill/>
        </p:spPr>
        <p:txBody>
          <a:bodyPr wrap="square" anchor="t" lIns="0" rIns="0" tIns="0" bIns="0">
            <a:noAutofit/>
          </a:bodyPr>
          <a:lstStyle/>
          <a:p>
            <a:pPr marL="215900" indent="-215900">
              <a:buClr>
                <a:srgbClr val="C2410C"/>
              </a:buClr>
              <a:buSzPct val="100000"/>
              <a:buFont typeface="Arial"/>
              <a:buChar char="•"/>
            </a:pPr>
            <a:r>
              <a:rPr sz="2000" b="0" lang="en-US">
                <a:solidFill>
                  <a:srgbClr val="0F172A"/>
                </a:solidFill>
                <a:latin typeface="Arial"/>
              </a:rPr>
              <a:t>My orders reads the history from the API on every visit (</a:t>
            </a:r>
            <a:r>
              <a:rPr sz="2000" b="0" lang="en-US">
                <a:solidFill>
                  <a:srgbClr val="C2410C"/>
                </a:solidFill>
                <a:latin typeface="Arial"/>
              </a:rPr>
              <a:t>GET /api/v1/orders?customerId=</a:t>
            </a:r>
            <a:r>
              <a:rPr sz="2000" b="0" lang="en-US">
                <a:solidFill>
                  <a:srgbClr val="0F172A"/>
                </a:solidFill>
                <a:latin typeface="Arial"/>
              </a:rPr>
              <a:t>)</a:t>
            </a:r>
          </a:p>
          <a:p>
            <a:pPr marL="215900" indent="-215900">
              <a:spcBef>
                <a:spcPts val="900"/>
              </a:spcBef>
              <a:buClr>
                <a:srgbClr val="C2410C"/>
              </a:buClr>
              <a:buSzPct val="100000"/>
              <a:buFont typeface="Arial"/>
              <a:buChar char="•"/>
            </a:pPr>
            <a:r>
              <a:rPr sz="2000" b="0" lang="en-US">
                <a:solidFill>
                  <a:srgbClr val="0F172A"/>
                </a:solidFill>
                <a:latin typeface="Arial"/>
              </a:rPr>
              <a:t>Newest first: order number, confirmation time and total with its currency code</a:t>
            </a:r>
          </a:p>
          <a:p>
            <a:pPr marL="215900" indent="-215900">
              <a:spcBef>
                <a:spcPts val="900"/>
              </a:spcBef>
              <a:buClr>
                <a:srgbClr val="C2410C"/>
              </a:buClr>
              <a:buSzPct val="100000"/>
              <a:buFont typeface="Arial"/>
              <a:buChar char="•"/>
            </a:pPr>
            <a:r>
              <a:rPr sz="2000" b="0" lang="en-US">
                <a:solidFill>
                  <a:srgbClr val="0F172A"/>
                </a:solidFill>
                <a:latin typeface="Arial"/>
              </a:rPr>
              <a:t>The order just confirmed comes first, with the confirmed total</a:t>
            </a:r>
          </a:p>
          <a:p>
            <a:pPr marL="215900" indent="-215900">
              <a:spcBef>
                <a:spcPts val="900"/>
              </a:spcBef>
              <a:buClr>
                <a:srgbClr val="C2410C"/>
              </a:buClr>
              <a:buSzPct val="100000"/>
              <a:buFont typeface="Arial"/>
              <a:buChar char="•"/>
            </a:pPr>
            <a:r>
              <a:rPr sz="2000" b="0" lang="en-US">
                <a:solidFill>
                  <a:srgbClr val="0F172A"/>
                </a:solidFill>
                <a:latin typeface="Arial"/>
              </a:rPr>
              <a:t>The client keeps no copy of an order, so no cache can hide a committed one</a:t>
            </a:r>
          </a:p>
          <a:p>
            <a:pPr marL="215900" indent="-215900">
              <a:spcBef>
                <a:spcPts val="900"/>
              </a:spcBef>
              <a:buClr>
                <a:srgbClr val="C2410C"/>
              </a:buClr>
              <a:buSzPct val="100000"/>
              <a:buFont typeface="Arial"/>
              <a:buChar char="•"/>
            </a:pPr>
            <a:r>
              <a:rPr sz="2000" b="0" lang="en-US">
                <a:solidFill>
                  <a:srgbClr val="0F172A"/>
                </a:solidFill>
                <a:latin typeface="Arial"/>
              </a:rPr>
              <a:t>Each row opens its order, rendered from its sealed quote</a:t>
            </a:r>
          </a:p>
        </p:txBody>
      </p:sp>
      <p:pic>
        <p:nvPicPr>
          <p:cNvPr id="6" name="Image" descr="My orders, newest first"/>
          <p:cNvPicPr>
            <a:picLocks noChangeAspect="1"/>
          </p:cNvPicPr>
          <p:nvPr/>
        </p:nvPicPr>
        <p:blipFill>
          <a:blip r:embed="rId2"/>
          <a:stretch>
            <a:fillRect/>
          </a:stretch>
        </p:blipFill>
        <p:spPr>
          <a:xfrm>
            <a:off x="5791200" y="2148840"/>
            <a:ext cx="5852160" cy="3035808"/>
          </a:xfrm>
          <a:prstGeom prst="rect">
            <a:avLst/>
          </a:prstGeom>
          <a:ln w="9525">
            <a:solidFill>
              <a:srgbClr val="E2E8F0"/>
            </a:solidFill>
          </a:ln>
        </p:spPr>
      </p:pic>
      <p:sp>
        <p:nvSpPr>
          <p:cNvPr id="7" name="Caption"/>
          <p:cNvSpPr txBox="1"/>
          <p:nvPr/>
        </p:nvSpPr>
        <p:spPr>
          <a:xfrm>
            <a:off x="5791200" y="5257800"/>
            <a:ext cx="5852160" cy="182879"/>
          </a:xfrm>
          <a:prstGeom prst="rect">
            <a:avLst/>
          </a:prstGeom>
          <a:noFill/>
        </p:spPr>
        <p:txBody>
          <a:bodyPr wrap="square" anchor="t" lIns="0" rIns="0" tIns="0" bIns="0">
            <a:noAutofit/>
          </a:bodyPr>
          <a:lstStyle/>
          <a:p>
            <a:pPr algn="ctr"/>
            <a:r>
              <a:rPr sz="1200" b="0" lang="en-US">
                <a:solidFill>
                  <a:srgbClr val="475569"/>
                </a:solidFill>
                <a:latin typeface="Arial"/>
              </a:rPr>
              <a:t>My orders, newest first</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The pricing pipeline and the lever order</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3977631"/>
          </a:xfrm>
          <a:prstGeom prst="rect">
            <a:avLst/>
          </a:prstGeom>
          <a:noFill/>
        </p:spPr>
        <p:txBody>
          <a:bodyPr wrap="square" anchor="t" lIns="0" rIns="0" tIns="0" bIns="0">
            <a:noAutofit/>
          </a:bodyPr>
          <a:lstStyle/>
          <a:p>
            <a:pPr marL="396240" indent="-396240">
              <a:buClr>
                <a:srgbClr val="C2410C"/>
              </a:buClr>
              <a:buSzPct val="100000"/>
              <a:buFont typeface="Arial"/>
              <a:buAutoNum type="arabicPeriod"/>
            </a:pPr>
            <a:r>
              <a:rPr sz="2400" b="0" lang="en-US">
                <a:solidFill>
                  <a:srgbClr val="0F172A"/>
                </a:solidFill>
                <a:latin typeface="Arial"/>
              </a:rPr>
              <a:t>Gift eligibility, on paid quantities or the gross subtotal before discounts</a:t>
            </a:r>
          </a:p>
          <a:p>
            <a:pPr marL="396240" indent="-396240">
              <a:spcBef>
                <a:spcPts val="1080"/>
              </a:spcBef>
              <a:buClr>
                <a:srgbClr val="C2410C"/>
              </a:buClr>
              <a:buSzPct val="100000"/>
              <a:buFont typeface="Arial"/>
              <a:buAutoNum type="arabicPeriod" startAt="2"/>
            </a:pPr>
            <a:r>
              <a:rPr sz="2400" b="0" lang="en-US">
                <a:solidFill>
                  <a:srgbClr val="0F172A"/>
                </a:solidFill>
                <a:latin typeface="Arial"/>
              </a:rPr>
              <a:t>Combos consume their units first: one </a:t>
            </a:r>
            <a:r>
              <a:rPr sz="2400" b="0" lang="en-US">
                <a:solidFill>
                  <a:srgbClr val="C2410C"/>
                </a:solidFill>
                <a:latin typeface="Arial"/>
              </a:rPr>
              <a:t>COMBO</a:t>
            </a:r>
            <a:r>
              <a:rPr sz="2400" b="0" lang="en-US">
                <a:solidFill>
                  <a:srgbClr val="0F172A"/>
                </a:solidFill>
                <a:latin typeface="Arial"/>
              </a:rPr>
              <a:t> entry, never a second discount on those units</a:t>
            </a:r>
          </a:p>
          <a:p>
            <a:pPr marL="396240" indent="-396240">
              <a:spcBef>
                <a:spcPts val="1080"/>
              </a:spcBef>
              <a:buClr>
                <a:srgbClr val="C2410C"/>
              </a:buClr>
              <a:buSzPct val="100000"/>
              <a:buFont typeface="Arial"/>
              <a:buAutoNum type="arabicPeriod" startAt="3"/>
            </a:pPr>
            <a:r>
              <a:rPr sz="2400" b="0" lang="en-US">
                <a:solidFill>
                  <a:srgbClr val="0F172A"/>
                </a:solidFill>
                <a:latin typeface="Arial"/>
              </a:rPr>
              <a:t>Tier discounts in marginal brackets, on the units no combo consumed</a:t>
            </a:r>
          </a:p>
          <a:p>
            <a:pPr marL="396240" indent="-396240">
              <a:spcBef>
                <a:spcPts val="1080"/>
              </a:spcBef>
              <a:buClr>
                <a:srgbClr val="C2410C"/>
              </a:buClr>
              <a:buSzPct val="100000"/>
              <a:buFont typeface="Arial"/>
              <a:buAutoNum type="arabicPeriod" startAt="4"/>
            </a:pPr>
            <a:r>
              <a:rPr sz="2400" b="0" lang="en-US">
                <a:solidFill>
                  <a:srgbClr val="0F172A"/>
                </a:solidFill>
                <a:latin typeface="Arial"/>
              </a:rPr>
              <a:t>Line net = gross − discounts, then the taxable base</a:t>
            </a:r>
          </a:p>
          <a:p>
            <a:pPr marL="396240" indent="-396240">
              <a:spcBef>
                <a:spcPts val="1080"/>
              </a:spcBef>
              <a:buClr>
                <a:srgbClr val="C2410C"/>
              </a:buClr>
              <a:buSzPct val="100000"/>
              <a:buFont typeface="Arial"/>
              <a:buAutoNum type="arabicPeriod" startAt="5"/>
            </a:pPr>
            <a:r>
              <a:rPr sz="2400" b="0" lang="en-US">
                <a:solidFill>
                  <a:srgbClr val="0F172A"/>
                </a:solidFill>
                <a:latin typeface="Arial"/>
              </a:rPr>
              <a:t>Tax per line at each SKU's rate, then total = Σ net + taxes</a:t>
            </a:r>
          </a:p>
          <a:p>
            <a:pPr marL="396240" indent="-396240">
              <a:spcBef>
                <a:spcPts val="1080"/>
              </a:spcBef>
              <a:buClr>
                <a:srgbClr val="C2410C"/>
              </a:buClr>
              <a:buSzPct val="100000"/>
              <a:buFont typeface="Arial"/>
              <a:buAutoNum type="arabicPeriod" startAt="6"/>
            </a:pPr>
            <a:r>
              <a:rPr sz="2400" b="0" lang="en-US">
                <a:solidFill>
                  <a:srgbClr val="0F172A"/>
                </a:solidFill>
                <a:latin typeface="Arial"/>
              </a:rPr>
              <a:t>Credit check on the final total, in the application layer, outside the pure engine</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The pricing pipeline at a glance</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Image" descr="The pricing pipeline: the order in which levers apply"/>
          <p:cNvPicPr>
            <a:picLocks noChangeAspect="1"/>
          </p:cNvPicPr>
          <p:nvPr/>
        </p:nvPicPr>
        <p:blipFill>
          <a:blip r:embed="rId2"/>
          <a:stretch>
            <a:fillRect/>
          </a:stretch>
        </p:blipFill>
        <p:spPr>
          <a:xfrm>
            <a:off x="1027246" y="1508760"/>
            <a:ext cx="10137508" cy="4315969"/>
          </a:xfrm>
          <a:prstGeom prst="rect">
            <a:avLst/>
          </a:prstGeom>
          <a:ln w="9525">
            <a:solidFill>
              <a:srgbClr val="E2E8F0"/>
            </a:solidFill>
          </a:ln>
        </p:spPr>
      </p:pic>
      <p:sp>
        <p:nvSpPr>
          <p:cNvPr id="6" name="Caption"/>
          <p:cNvSpPr txBox="1"/>
          <p:nvPr/>
        </p:nvSpPr>
        <p:spPr>
          <a:xfrm>
            <a:off x="548640" y="5897881"/>
            <a:ext cx="11094720" cy="182879"/>
          </a:xfrm>
          <a:prstGeom prst="rect">
            <a:avLst/>
          </a:prstGeom>
          <a:noFill/>
        </p:spPr>
        <p:txBody>
          <a:bodyPr wrap="square" anchor="t" lIns="0" rIns="0" tIns="0" bIns="0">
            <a:noAutofit/>
          </a:bodyPr>
          <a:lstStyle/>
          <a:p>
            <a:pPr algn="ctr"/>
            <a:r>
              <a:rPr sz="1200" b="0" lang="en-US">
                <a:solidFill>
                  <a:srgbClr val="475569"/>
                </a:solidFill>
                <a:latin typeface="Arial"/>
              </a:rPr>
              <a:t>The pricing pipeline: the order in which levers apply</a:t>
            </a:r>
          </a:p>
        </p:txBody>
      </p:sp>
      <p:sp>
        <p:nvSpPr>
          <p:cNvPr id="7"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9"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Money and rounding</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3977631"/>
          </a:xfrm>
          <a:prstGeom prst="rect">
            <a:avLst/>
          </a:prstGeom>
          <a:noFill/>
        </p:spPr>
        <p:txBody>
          <a:bodyPr wrap="square" anchor="t" lIns="0" rIns="0" tIns="0" bIns="0">
            <a:noAutofit/>
          </a:bodyPr>
          <a:lstStyle/>
          <a:p>
            <a:pPr marL="259080" indent="-259080">
              <a:buClr>
                <a:srgbClr val="C2410C"/>
              </a:buClr>
              <a:buSzPct val="100000"/>
              <a:buFont typeface="Arial"/>
              <a:buChar char="•"/>
            </a:pPr>
            <a:r>
              <a:rPr sz="2400" b="0" lang="en-US">
                <a:solidFill>
                  <a:srgbClr val="C2410C"/>
                </a:solidFill>
                <a:latin typeface="Arial"/>
              </a:rPr>
              <a:t>Money</a:t>
            </a:r>
            <a:r>
              <a:rPr sz="2400" b="0" lang="en-US">
                <a:solidFill>
                  <a:srgbClr val="0F172A"/>
                </a:solidFill>
                <a:latin typeface="Arial"/>
              </a:rPr>
              <a:t> wraps </a:t>
            </a:r>
            <a:r>
              <a:rPr sz="2400" b="0" lang="en-US">
                <a:solidFill>
                  <a:srgbClr val="C2410C"/>
                </a:solidFill>
                <a:latin typeface="Arial"/>
              </a:rPr>
              <a:t>BigDecimal</a:t>
            </a:r>
            <a:r>
              <a:rPr sz="2400" b="0" lang="en-US">
                <a:solidFill>
                  <a:srgbClr val="0F172A"/>
                </a:solidFill>
                <a:latin typeface="Arial"/>
              </a:rPr>
              <a:t>; an architecture test bans </a:t>
            </a:r>
            <a:r>
              <a:rPr sz="2400" b="0" lang="en-US">
                <a:solidFill>
                  <a:srgbClr val="C2410C"/>
                </a:solidFill>
                <a:latin typeface="Arial"/>
              </a:rPr>
              <a:t>float</a:t>
            </a:r>
            <a:r>
              <a:rPr sz="2400" b="0" lang="en-US">
                <a:solidFill>
                  <a:srgbClr val="0F172A"/>
                </a:solidFill>
                <a:latin typeface="Arial"/>
              </a:rPr>
              <a:t> and </a:t>
            </a:r>
            <a:r>
              <a:rPr sz="2400" b="0" lang="en-US">
                <a:solidFill>
                  <a:srgbClr val="C2410C"/>
                </a:solidFill>
                <a:latin typeface="Arial"/>
              </a:rPr>
              <a:t>double</a:t>
            </a:r>
            <a:r>
              <a:rPr sz="2400" b="0" lang="en-US">
                <a:solidFill>
                  <a:srgbClr val="0F172A"/>
                </a:solidFill>
                <a:latin typeface="Arial"/>
              </a:rPr>
              <a:t> from the domain</a:t>
            </a:r>
          </a:p>
          <a:p>
            <a:pPr marL="259080" indent="-259080">
              <a:spcBef>
                <a:spcPts val="1080"/>
              </a:spcBef>
              <a:buClr>
                <a:srgbClr val="C2410C"/>
              </a:buClr>
              <a:buSzPct val="100000"/>
              <a:buFont typeface="Arial"/>
              <a:buChar char="•"/>
            </a:pPr>
            <a:r>
              <a:rPr sz="2400" b="0" lang="en-US">
                <a:solidFill>
                  <a:srgbClr val="0F172A"/>
                </a:solidFill>
                <a:latin typeface="Arial"/>
              </a:rPr>
              <a:t>Scale and rounding mode come from the country data: COP scale 0, USD scale 2, </a:t>
            </a:r>
            <a:r>
              <a:rPr sz="2400" b="0" lang="en-US">
                <a:solidFill>
                  <a:srgbClr val="C2410C"/>
                </a:solidFill>
                <a:latin typeface="Arial"/>
              </a:rPr>
              <a:t>HALF_UP</a:t>
            </a:r>
          </a:p>
          <a:p>
            <a:pPr marL="259080" indent="-259080">
              <a:spcBef>
                <a:spcPts val="1080"/>
              </a:spcBef>
              <a:buClr>
                <a:srgbClr val="C2410C"/>
              </a:buClr>
              <a:buSzPct val="100000"/>
              <a:buFont typeface="Arial"/>
              <a:buChar char="•"/>
            </a:pPr>
            <a:r>
              <a:rPr sz="2400" b="0" lang="en-US">
                <a:solidFill>
                  <a:srgbClr val="0F172A"/>
                </a:solidFill>
                <a:latin typeface="Arial"/>
              </a:rPr>
              <a:t>Never from </a:t>
            </a:r>
            <a:r>
              <a:rPr sz="2400" b="0" lang="en-US">
                <a:solidFill>
                  <a:srgbClr val="C2410C"/>
                </a:solidFill>
                <a:latin typeface="Arial"/>
              </a:rPr>
              <a:t>java.util.Currency</a:t>
            </a:r>
            <a:r>
              <a:rPr sz="2400" b="0" lang="en-US">
                <a:solidFill>
                  <a:srgbClr val="0F172A"/>
                </a:solidFill>
                <a:latin typeface="Arial"/>
              </a:rPr>
              <a:t>, which reports COP with two decimals</a:t>
            </a:r>
          </a:p>
          <a:p>
            <a:pPr marL="259080" indent="-259080">
              <a:spcBef>
                <a:spcPts val="1080"/>
              </a:spcBef>
              <a:buClr>
                <a:srgbClr val="C2410C"/>
              </a:buClr>
              <a:buSzPct val="100000"/>
              <a:buFont typeface="Arial"/>
              <a:buChar char="•"/>
            </a:pPr>
            <a:r>
              <a:rPr sz="2400" b="0" lang="en-US">
                <a:solidFill>
                  <a:srgbClr val="0F172A"/>
                </a:solidFill>
                <a:latin typeface="Arial"/>
              </a:rPr>
              <a:t>Rounding happens per line only: each discount component and each tax</a:t>
            </a:r>
          </a:p>
          <a:p>
            <a:pPr marL="259080" indent="-259080">
              <a:spcBef>
                <a:spcPts val="1080"/>
              </a:spcBef>
              <a:buClr>
                <a:srgbClr val="C2410C"/>
              </a:buClr>
              <a:buSzPct val="100000"/>
              <a:buFont typeface="Arial"/>
              <a:buChar char="•"/>
            </a:pPr>
            <a:r>
              <a:rPr sz="2400" b="0" lang="en-US">
                <a:solidFill>
                  <a:srgbClr val="0F172A"/>
                </a:solidFill>
                <a:latin typeface="Arial"/>
              </a:rPr>
              <a:t>Totals are sums of rounded lines and are never rounded again</a:t>
            </a:r>
          </a:p>
          <a:p>
            <a:pPr marL="259080" indent="-259080">
              <a:spcBef>
                <a:spcPts val="1080"/>
              </a:spcBef>
              <a:buClr>
                <a:srgbClr val="C2410C"/>
              </a:buClr>
              <a:buSzPct val="100000"/>
              <a:buFont typeface="Arial"/>
              <a:buChar char="•"/>
            </a:pPr>
            <a:r>
              <a:rPr sz="2400" b="0" lang="en-US">
                <a:solidFill>
                  <a:srgbClr val="0F172A"/>
                </a:solidFill>
                <a:latin typeface="Arial"/>
              </a:rPr>
              <a:t>In the API, money is a JSON string at the currency's scale, never a number</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Quote equals confirmation</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3870960"/>
          </a:xfrm>
          <a:prstGeom prst="rect">
            <a:avLst/>
          </a:prstGeom>
          <a:noFill/>
        </p:spPr>
        <p:txBody>
          <a:bodyPr wrap="square" anchor="t" lIns="0" rIns="0" tIns="0" bIns="0">
            <a:noAutofit/>
          </a:bodyPr>
          <a:lstStyle/>
          <a:p>
            <a:pPr marL="172720" indent="-172720">
              <a:buClr>
                <a:srgbClr val="C2410C"/>
              </a:buClr>
              <a:buSzPct val="100000"/>
              <a:buFont typeface="Arial"/>
              <a:buChar char="•"/>
            </a:pPr>
            <a:r>
              <a:rPr sz="1600" b="0" lang="en-US">
                <a:solidFill>
                  <a:srgbClr val="0F172A"/>
                </a:solidFill>
                <a:latin typeface="Arial"/>
              </a:rPr>
              <a:t>The quote is sealed: its lines and discount components are insert-only</a:t>
            </a:r>
          </a:p>
          <a:p>
            <a:pPr marL="172720" indent="-172720">
              <a:spcBef>
                <a:spcPts val="720"/>
              </a:spcBef>
              <a:buClr>
                <a:srgbClr val="C2410C"/>
              </a:buClr>
              <a:buSzPct val="100000"/>
              <a:buFont typeface="Arial"/>
              <a:buChar char="•"/>
            </a:pPr>
            <a:r>
              <a:rPr sz="1600" b="0" lang="en-US">
                <a:solidFill>
                  <a:srgbClr val="0F172A"/>
                </a:solidFill>
                <a:latin typeface="Arial"/>
              </a:rPr>
              <a:t>Each line keeps the price and the tax rate in force when it was quoted</a:t>
            </a:r>
          </a:p>
          <a:p>
            <a:pPr marL="172720" indent="-172720">
              <a:spcBef>
                <a:spcPts val="720"/>
              </a:spcBef>
              <a:buClr>
                <a:srgbClr val="C2410C"/>
              </a:buClr>
              <a:buSzPct val="100000"/>
              <a:buFont typeface="Arial"/>
              <a:buChar char="•"/>
            </a:pPr>
            <a:r>
              <a:rPr sz="1600" b="0" lang="en-US">
                <a:solidFill>
                  <a:srgbClr val="0F172A"/>
                </a:solidFill>
                <a:latin typeface="Arial"/>
              </a:rPr>
              <a:t>The order stores no amount: it references the quote, so every figure exists once</a:t>
            </a:r>
          </a:p>
          <a:p>
            <a:pPr marL="172720" indent="-172720">
              <a:spcBef>
                <a:spcPts val="720"/>
              </a:spcBef>
              <a:buClr>
                <a:srgbClr val="C2410C"/>
              </a:buClr>
              <a:buSzPct val="100000"/>
              <a:buFont typeface="Arial"/>
              <a:buChar char="•"/>
            </a:pPr>
            <a:r>
              <a:rPr sz="1600" b="0" lang="en-US">
                <a:solidFill>
                  <a:srgbClr val="0F172A"/>
                </a:solidFill>
                <a:latin typeface="Arial"/>
              </a:rPr>
              <a:t>Confirmation never runs the engine again, so later price or lever changes cannot reach the order</a:t>
            </a:r>
          </a:p>
          <a:p>
            <a:pPr marL="172720" indent="-172720">
              <a:spcBef>
                <a:spcPts val="720"/>
              </a:spcBef>
              <a:buClr>
                <a:srgbClr val="C2410C"/>
              </a:buClr>
              <a:buSzPct val="100000"/>
              <a:buFont typeface="Arial"/>
              <a:buChar char="•"/>
            </a:pPr>
            <a:r>
              <a:rPr sz="1600" b="0" lang="en-US">
                <a:solidFill>
                  <a:srgbClr val="0F172A"/>
                </a:solidFill>
                <a:latin typeface="Arial"/>
              </a:rPr>
              <a:t>Trade-off: an open quote keeps its price until it expires, at most 15 minutes</a:t>
            </a:r>
          </a:p>
          <a:p>
            <a:pPr marL="172720" indent="-172720">
              <a:spcBef>
                <a:spcPts val="720"/>
              </a:spcBef>
              <a:buClr>
                <a:srgbClr val="C2410C"/>
              </a:buClr>
              <a:buSzPct val="100000"/>
              <a:buFont typeface="Arial"/>
              <a:buChar char="•"/>
            </a:pPr>
            <a:r>
              <a:rPr sz="1600" b="0" lang="en-US">
                <a:solidFill>
                  <a:srgbClr val="0F172A"/>
                </a:solidFill>
                <a:latin typeface="Arial"/>
              </a:rPr>
              <a:t>Golden test 6 changes a price and deactivates a lever in between: same total, and a fresh quote differs</a:t>
            </a:r>
          </a:p>
        </p:txBody>
      </p:sp>
      <p:pic>
        <p:nvPicPr>
          <p:cNvPr id="6" name="Image" descr="Quote: the price is computed once and sealed"/>
          <p:cNvPicPr>
            <a:picLocks noChangeAspect="1"/>
          </p:cNvPicPr>
          <p:nvPr/>
        </p:nvPicPr>
        <p:blipFill>
          <a:blip r:embed="rId2"/>
          <a:stretch>
            <a:fillRect/>
          </a:stretch>
        </p:blipFill>
        <p:spPr>
          <a:xfrm>
            <a:off x="5791200" y="2001906"/>
            <a:ext cx="5852160" cy="3329677"/>
          </a:xfrm>
          <a:prstGeom prst="rect">
            <a:avLst/>
          </a:prstGeom>
          <a:ln w="9525">
            <a:solidFill>
              <a:srgbClr val="E2E8F0"/>
            </a:solidFill>
          </a:ln>
        </p:spPr>
      </p:pic>
      <p:sp>
        <p:nvSpPr>
          <p:cNvPr id="7" name="Caption"/>
          <p:cNvSpPr txBox="1"/>
          <p:nvPr/>
        </p:nvSpPr>
        <p:spPr>
          <a:xfrm>
            <a:off x="5791200" y="5404735"/>
            <a:ext cx="5852160" cy="182879"/>
          </a:xfrm>
          <a:prstGeom prst="rect">
            <a:avLst/>
          </a:prstGeom>
          <a:noFill/>
        </p:spPr>
        <p:txBody>
          <a:bodyPr wrap="square" anchor="t" lIns="0" rIns="0" tIns="0" bIns="0">
            <a:noAutofit/>
          </a:bodyPr>
          <a:lstStyle/>
          <a:p>
            <a:pPr algn="ctr"/>
            <a:r>
              <a:rPr sz="1200" b="0" lang="en-US">
                <a:solidFill>
                  <a:srgbClr val="475569"/>
                </a:solidFill>
                <a:latin typeface="Arial"/>
              </a:rPr>
              <a:t>Quote: the price is computed once and sealed</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The idempotent confirmation in one transaction</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4080510"/>
          </a:xfrm>
          <a:prstGeom prst="rect">
            <a:avLst/>
          </a:prstGeom>
          <a:noFill/>
        </p:spPr>
        <p:txBody>
          <a:bodyPr wrap="square" anchor="t" lIns="0" rIns="0" tIns="0" bIns="0">
            <a:noAutofit/>
          </a:bodyPr>
          <a:lstStyle/>
          <a:p>
            <a:pPr marL="297180" indent="-297180">
              <a:buClr>
                <a:srgbClr val="C2410C"/>
              </a:buClr>
              <a:buSzPct val="100000"/>
              <a:buFont typeface="Arial"/>
              <a:buAutoNum type="arabicPeriod"/>
            </a:pPr>
            <a:r>
              <a:rPr sz="1800" b="0" lang="en-US">
                <a:solidFill>
                  <a:srgbClr val="0F172A"/>
                </a:solidFill>
                <a:latin typeface="Arial"/>
              </a:rPr>
              <a:t>Insert the idempotency key; a concurrent request with the same key waits on it</a:t>
            </a:r>
          </a:p>
          <a:p>
            <a:pPr marL="297180" indent="-297180">
              <a:spcBef>
                <a:spcPts val="810"/>
              </a:spcBef>
              <a:buClr>
                <a:srgbClr val="C2410C"/>
              </a:buClr>
              <a:buSzPct val="100000"/>
              <a:buFont typeface="Arial"/>
              <a:buAutoNum type="arabicPeriod" startAt="2"/>
            </a:pPr>
            <a:r>
              <a:rPr sz="1800" b="0" lang="en-US">
                <a:solidFill>
                  <a:srgbClr val="0F172A"/>
                </a:solidFill>
                <a:latin typeface="Arial"/>
              </a:rPr>
              <a:t>Lock the quote, then check its owner, that it has no order yet and that it has not expired</a:t>
            </a:r>
          </a:p>
          <a:p>
            <a:pPr marL="297180" indent="-297180">
              <a:spcBef>
                <a:spcPts val="810"/>
              </a:spcBef>
              <a:buClr>
                <a:srgbClr val="C2410C"/>
              </a:buClr>
              <a:buSzPct val="100000"/>
              <a:buFont typeface="Arial"/>
              <a:buAutoNum type="arabicPeriod" startAt="3"/>
            </a:pPr>
            <a:r>
              <a:rPr sz="1800" b="0" lang="en-US">
                <a:solidFill>
                  <a:srgbClr val="0F172A"/>
                </a:solidFill>
                <a:latin typeface="Arial"/>
              </a:rPr>
              <a:t>On credit, a conditional update that never exceeds the limit</a:t>
            </a:r>
          </a:p>
          <a:p>
            <a:pPr marL="297180" indent="-297180">
              <a:spcBef>
                <a:spcPts val="810"/>
              </a:spcBef>
              <a:buClr>
                <a:srgbClr val="C2410C"/>
              </a:buClr>
              <a:buSzPct val="100000"/>
              <a:buFont typeface="Arial"/>
              <a:buAutoNum type="arabicPeriod" startAt="4"/>
            </a:pPr>
            <a:r>
              <a:rPr sz="1800" b="0" lang="en-US">
                <a:solidFill>
                  <a:srgbClr val="0F172A"/>
                </a:solidFill>
                <a:latin typeface="Arial"/>
              </a:rPr>
              <a:t>Insert the order (no amounts), its ledger row on credit, and the push and ERP outbox events</a:t>
            </a:r>
          </a:p>
          <a:p>
            <a:pPr marL="297180" indent="-297180">
              <a:spcBef>
                <a:spcPts val="810"/>
              </a:spcBef>
              <a:buClr>
                <a:srgbClr val="C2410C"/>
              </a:buClr>
              <a:buSzPct val="100000"/>
              <a:buFont typeface="Arial"/>
              <a:buAutoNum type="arabicPeriod" startAt="5"/>
            </a:pPr>
            <a:r>
              <a:rPr sz="1800" b="0" lang="en-US">
                <a:solidFill>
                  <a:srgbClr val="0F172A"/>
                </a:solidFill>
                <a:latin typeface="Arial"/>
              </a:rPr>
              <a:t>Store the 201 body on the key, then commit</a:t>
            </a:r>
          </a:p>
          <a:p>
            <a:pPr marL="297180" indent="-297180">
              <a:spcBef>
                <a:spcPts val="810"/>
              </a:spcBef>
              <a:buClr>
                <a:srgbClr val="C2410C"/>
              </a:buClr>
              <a:buSzPct val="100000"/>
              <a:buFont typeface="Arial"/>
              <a:buAutoNum type="arabicPeriod" startAt="6"/>
            </a:pPr>
            <a:r>
              <a:rPr sz="1800" b="0" lang="en-US">
                <a:solidFill>
                  <a:srgbClr val="0F172A"/>
                </a:solidFill>
                <a:latin typeface="Arial"/>
              </a:rPr>
              <a:t>Only after the commit is the 201 sent</a:t>
            </a:r>
          </a:p>
        </p:txBody>
      </p:sp>
      <p:pic>
        <p:nvPicPr>
          <p:cNvPr id="6" name="Image" descr="Confirmation: one transaction, and the reply only after commit"/>
          <p:cNvPicPr>
            <a:picLocks noChangeAspect="1"/>
          </p:cNvPicPr>
          <p:nvPr/>
        </p:nvPicPr>
        <p:blipFill>
          <a:blip r:embed="rId2"/>
          <a:stretch>
            <a:fillRect/>
          </a:stretch>
        </p:blipFill>
        <p:spPr>
          <a:xfrm>
            <a:off x="5791200" y="1598309"/>
            <a:ext cx="5852160" cy="4136871"/>
          </a:xfrm>
          <a:prstGeom prst="rect">
            <a:avLst/>
          </a:prstGeom>
          <a:ln w="9525">
            <a:solidFill>
              <a:srgbClr val="E2E8F0"/>
            </a:solidFill>
          </a:ln>
        </p:spPr>
      </p:pic>
      <p:sp>
        <p:nvSpPr>
          <p:cNvPr id="7" name="Caption"/>
          <p:cNvSpPr txBox="1"/>
          <p:nvPr/>
        </p:nvSpPr>
        <p:spPr>
          <a:xfrm>
            <a:off x="5791200" y="5808332"/>
            <a:ext cx="5852160" cy="182879"/>
          </a:xfrm>
          <a:prstGeom prst="rect">
            <a:avLst/>
          </a:prstGeom>
          <a:noFill/>
        </p:spPr>
        <p:txBody>
          <a:bodyPr wrap="square" anchor="t" lIns="0" rIns="0" tIns="0" bIns="0">
            <a:noAutofit/>
          </a:bodyPr>
          <a:lstStyle/>
          <a:p>
            <a:pPr algn="ctr"/>
            <a:r>
              <a:rPr sz="1200" b="0" lang="en-US">
                <a:solidFill>
                  <a:srgbClr val="475569"/>
                </a:solidFill>
                <a:latin typeface="Arial"/>
              </a:rPr>
              <a:t>Confirmation: one transaction, and the reply only after commit</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The outbox: effects never lost, never applied twice</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364617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n-US">
                <a:solidFill>
                  <a:srgbClr val="0F172A"/>
                </a:solidFill>
                <a:latin typeface="Arial"/>
              </a:rPr>
              <a:t>The order transaction writes one outbox event for push and one for the ERP</a:t>
            </a:r>
          </a:p>
          <a:p>
            <a:pPr marL="237490" indent="-237490">
              <a:spcBef>
                <a:spcPts val="990"/>
              </a:spcBef>
              <a:buClr>
                <a:srgbClr val="C2410C"/>
              </a:buClr>
              <a:buSzPct val="100000"/>
              <a:buFont typeface="Arial"/>
              <a:buChar char="•"/>
            </a:pPr>
            <a:r>
              <a:rPr sz="2200" b="0" lang="en-US">
                <a:solidFill>
                  <a:srgbClr val="0F172A"/>
                </a:solidFill>
                <a:latin typeface="Arial"/>
              </a:rPr>
              <a:t>Every second, the relay claims due events with </a:t>
            </a:r>
            <a:r>
              <a:rPr sz="2200" b="0" lang="en-US">
                <a:solidFill>
                  <a:srgbClr val="C2410C"/>
                </a:solidFill>
                <a:latin typeface="Arial"/>
              </a:rPr>
              <a:t>FOR UPDATE SKIP LOCKED</a:t>
            </a:r>
            <a:r>
              <a:rPr sz="2200" b="0" lang="en-US">
                <a:solidFill>
                  <a:srgbClr val="0F172A"/>
                </a:solidFill>
                <a:latin typeface="Arial"/>
              </a:rPr>
              <a:t> under a 30-second lease</a:t>
            </a:r>
          </a:p>
          <a:p>
            <a:pPr marL="237490" indent="-237490">
              <a:spcBef>
                <a:spcPts val="990"/>
              </a:spcBef>
              <a:buClr>
                <a:srgbClr val="C2410C"/>
              </a:buClr>
              <a:buSzPct val="100000"/>
              <a:buFont typeface="Arial"/>
              <a:buChar char="•"/>
            </a:pPr>
            <a:r>
              <a:rPr sz="2200" b="0" lang="en-US">
                <a:solidFill>
                  <a:srgbClr val="0F172A"/>
                </a:solidFill>
                <a:latin typeface="Arial"/>
              </a:rPr>
              <a:t>It calls push or the ERP outside any transaction, passing the </a:t>
            </a:r>
            <a:r>
              <a:rPr sz="2200" b="0" lang="en-US">
                <a:solidFill>
                  <a:srgbClr val="C2410C"/>
                </a:solidFill>
                <a:latin typeface="Arial"/>
              </a:rPr>
              <a:t>event_id</a:t>
            </a:r>
          </a:p>
          <a:p>
            <a:pPr marL="237490" indent="-237490">
              <a:spcBef>
                <a:spcPts val="990"/>
              </a:spcBef>
              <a:buClr>
                <a:srgbClr val="C2410C"/>
              </a:buClr>
              <a:buSzPct val="100000"/>
              <a:buFont typeface="Arial"/>
              <a:buChar char="•"/>
            </a:pPr>
            <a:r>
              <a:rPr sz="2200" b="0" lang="en-US">
                <a:solidFill>
                  <a:srgbClr val="0F172A"/>
                </a:solidFill>
                <a:latin typeface="Arial"/>
              </a:rPr>
              <a:t>A failure is retried with exponential backoff and full jitter, its ceiling from 2 seconds up to 5 minutes</a:t>
            </a:r>
          </a:p>
          <a:p>
            <a:pPr marL="237490" indent="-237490">
              <a:spcBef>
                <a:spcPts val="990"/>
              </a:spcBef>
              <a:buClr>
                <a:srgbClr val="C2410C"/>
              </a:buClr>
              <a:buSzPct val="100000"/>
              <a:buFont typeface="Arial"/>
              <a:buChar char="•"/>
            </a:pPr>
            <a:r>
              <a:rPr sz="2200" b="0" lang="en-US">
                <a:solidFill>
                  <a:srgbClr val="0F172A"/>
                </a:solidFill>
                <a:latin typeface="Arial"/>
              </a:rPr>
              <a:t>After 8 attempts, or a non-retryable error, the event becomes </a:t>
            </a:r>
            <a:r>
              <a:rPr sz="2200" b="0" lang="en-US">
                <a:solidFill>
                  <a:srgbClr val="C2410C"/>
                </a:solidFill>
                <a:latin typeface="Arial"/>
              </a:rPr>
              <a:t>DEAD</a:t>
            </a:r>
            <a:r>
              <a:rPr sz="2200" b="0" lang="en-US">
                <a:solidFill>
                  <a:srgbClr val="0F172A"/>
                </a:solidFill>
                <a:latin typeface="Arial"/>
              </a:rPr>
              <a:t> and is counted in </a:t>
            </a:r>
            <a:r>
              <a:rPr sz="2200" b="0" lang="en-US">
                <a:solidFill>
                  <a:srgbClr val="C2410C"/>
                </a:solidFill>
                <a:latin typeface="Arial"/>
              </a:rPr>
              <a:t>outbox_dead</a:t>
            </a:r>
          </a:p>
          <a:p>
            <a:pPr marL="237490" indent="-237490">
              <a:spcBef>
                <a:spcPts val="990"/>
              </a:spcBef>
              <a:buClr>
                <a:srgbClr val="C2410C"/>
              </a:buClr>
              <a:buSzPct val="100000"/>
              <a:buFont typeface="Arial"/>
              <a:buChar char="•"/>
            </a:pPr>
            <a:r>
              <a:rPr sz="2200" b="0" lang="en-US">
                <a:solidFill>
                  <a:srgbClr val="0F172A"/>
                </a:solidFill>
                <a:latin typeface="Arial"/>
              </a:rPr>
              <a:t>Consumers deduplicate by </a:t>
            </a:r>
            <a:r>
              <a:rPr sz="2200" b="0" lang="en-US">
                <a:solidFill>
                  <a:srgbClr val="C2410C"/>
                </a:solidFill>
                <a:latin typeface="Arial"/>
              </a:rPr>
              <a:t>event_id</a:t>
            </a:r>
            <a:r>
              <a:rPr sz="2200" b="0" lang="en-US">
                <a:solidFill>
                  <a:srgbClr val="0F172A"/>
                </a:solidFill>
                <a:latin typeface="Arial"/>
              </a:rPr>
              <a:t>, so sending again has no second effect</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The outbox lifecycle at a glance</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Image" descr="Outbox lifecycle: at-least-once delivery, consumers deduplicate"/>
          <p:cNvPicPr>
            <a:picLocks noChangeAspect="1"/>
          </p:cNvPicPr>
          <p:nvPr/>
        </p:nvPicPr>
        <p:blipFill>
          <a:blip r:embed="rId2"/>
          <a:stretch>
            <a:fillRect/>
          </a:stretch>
        </p:blipFill>
        <p:spPr>
          <a:xfrm>
            <a:off x="1504544" y="1508760"/>
            <a:ext cx="9182912" cy="4315969"/>
          </a:xfrm>
          <a:prstGeom prst="rect">
            <a:avLst/>
          </a:prstGeom>
          <a:ln w="9525">
            <a:solidFill>
              <a:srgbClr val="E2E8F0"/>
            </a:solidFill>
          </a:ln>
        </p:spPr>
      </p:pic>
      <p:sp>
        <p:nvSpPr>
          <p:cNvPr id="6" name="Caption"/>
          <p:cNvSpPr txBox="1"/>
          <p:nvPr/>
        </p:nvSpPr>
        <p:spPr>
          <a:xfrm>
            <a:off x="548640" y="5897881"/>
            <a:ext cx="11094720" cy="182879"/>
          </a:xfrm>
          <a:prstGeom prst="rect">
            <a:avLst/>
          </a:prstGeom>
          <a:noFill/>
        </p:spPr>
        <p:txBody>
          <a:bodyPr wrap="square" anchor="t" lIns="0" rIns="0" tIns="0" bIns="0">
            <a:noAutofit/>
          </a:bodyPr>
          <a:lstStyle/>
          <a:p>
            <a:pPr algn="ctr"/>
            <a:r>
              <a:rPr sz="1200" b="0" lang="en-US">
                <a:solidFill>
                  <a:srgbClr val="475569"/>
                </a:solidFill>
                <a:latin typeface="Arial"/>
              </a:rPr>
              <a:t>Outbox lifecycle: at-least-once delivery, consumers deduplicate</a:t>
            </a:r>
          </a:p>
        </p:txBody>
      </p:sp>
      <p:sp>
        <p:nvSpPr>
          <p:cNvPr id="7"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9"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Four countries, two languages</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3611872"/>
          </a:xfrm>
          <a:prstGeom prst="rect">
            <a:avLst/>
          </a:prstGeom>
          <a:noFill/>
        </p:spPr>
        <p:txBody>
          <a:bodyPr wrap="square" anchor="t" lIns="0" rIns="0" tIns="0" bIns="0">
            <a:noAutofit/>
          </a:bodyPr>
          <a:lstStyle/>
          <a:p>
            <a:pPr marL="259080" indent="-259080">
              <a:buClr>
                <a:srgbClr val="C2410C"/>
              </a:buClr>
              <a:buSzPct val="100000"/>
              <a:buFont typeface="Arial"/>
              <a:buChar char="•"/>
            </a:pPr>
            <a:r>
              <a:rPr sz="2400" b="0" lang="en-US">
                <a:solidFill>
                  <a:srgbClr val="C2410C"/>
                </a:solidFill>
                <a:latin typeface="Arial"/>
              </a:rPr>
              <a:t>co-alpha</a:t>
            </a:r>
            <a:r>
              <a:rPr sz="2400" b="0" lang="en-US">
                <a:solidFill>
                  <a:srgbClr val="0F172A"/>
                </a:solidFill>
                <a:latin typeface="Arial"/>
              </a:rPr>
              <a:t>, Colombia: COP at scale 0, 19% and 5% tax, gifts taxed</a:t>
            </a:r>
          </a:p>
          <a:p>
            <a:pPr marL="259080" indent="-259080">
              <a:spcBef>
                <a:spcPts val="1080"/>
              </a:spcBef>
              <a:buClr>
                <a:srgbClr val="C2410C"/>
              </a:buClr>
              <a:buSzPct val="100000"/>
              <a:buFont typeface="Arial"/>
              <a:buChar char="•"/>
            </a:pPr>
            <a:r>
              <a:rPr sz="2400" b="0" lang="en-US">
                <a:solidFill>
                  <a:srgbClr val="C2410C"/>
                </a:solidFill>
                <a:latin typeface="Arial"/>
              </a:rPr>
              <a:t>ec-alpha</a:t>
            </a:r>
            <a:r>
              <a:rPr sz="2400" b="0" lang="en-US">
                <a:solidFill>
                  <a:srgbClr val="0F172A"/>
                </a:solidFill>
                <a:latin typeface="Arial"/>
              </a:rPr>
              <a:t>, Ecuador: USD at scale 2, 15% tax, gifts exempt</a:t>
            </a:r>
          </a:p>
          <a:p>
            <a:pPr marL="259080" indent="-259080">
              <a:spcBef>
                <a:spcPts val="1080"/>
              </a:spcBef>
              <a:buClr>
                <a:srgbClr val="C2410C"/>
              </a:buClr>
              <a:buSzPct val="100000"/>
              <a:buFont typeface="Arial"/>
              <a:buChar char="•"/>
            </a:pPr>
            <a:r>
              <a:rPr sz="2400" b="0" lang="en-US">
                <a:solidFill>
                  <a:srgbClr val="C2410C"/>
                </a:solidFill>
                <a:latin typeface="Arial"/>
              </a:rPr>
              <a:t>gt-alpha</a:t>
            </a:r>
            <a:r>
              <a:rPr sz="2400" b="0" lang="en-US">
                <a:solidFill>
                  <a:srgbClr val="0F172A"/>
                </a:solidFill>
                <a:latin typeface="Arial"/>
              </a:rPr>
              <a:t>, Guatemala: GTQ at scale 2, 12% tax, gifts exempt</a:t>
            </a:r>
          </a:p>
          <a:p>
            <a:pPr marL="259080" indent="-259080">
              <a:spcBef>
                <a:spcPts val="1080"/>
              </a:spcBef>
              <a:buClr>
                <a:srgbClr val="C2410C"/>
              </a:buClr>
              <a:buSzPct val="100000"/>
              <a:buFont typeface="Arial"/>
              <a:buChar char="•"/>
            </a:pPr>
            <a:r>
              <a:rPr sz="2400" b="0" lang="en-US">
                <a:solidFill>
                  <a:srgbClr val="C2410C"/>
                </a:solidFill>
                <a:latin typeface="Arial"/>
              </a:rPr>
              <a:t>pe-alpha</a:t>
            </a:r>
            <a:r>
              <a:rPr sz="2400" b="0" lang="en-US">
                <a:solidFill>
                  <a:srgbClr val="0F172A"/>
                </a:solidFill>
                <a:latin typeface="Arial"/>
              </a:rPr>
              <a:t>, Peru: PEN at scale 2, 18% tax, gifts taxed</a:t>
            </a:r>
          </a:p>
          <a:p>
            <a:pPr marL="259080" indent="-259080">
              <a:spcBef>
                <a:spcPts val="1080"/>
              </a:spcBef>
              <a:buClr>
                <a:srgbClr val="C2410C"/>
              </a:buClr>
              <a:buSzPct val="100000"/>
              <a:buFont typeface="Arial"/>
              <a:buChar char="•"/>
            </a:pPr>
            <a:r>
              <a:rPr sz="2400" b="0" lang="en-US">
                <a:solidFill>
                  <a:srgbClr val="0F172A"/>
                </a:solidFill>
                <a:latin typeface="Arial"/>
              </a:rPr>
              <a:t>Guatemala and Peru arrived as one Liquibase changelog of data, with no change to the engine or the API code</a:t>
            </a:r>
          </a:p>
          <a:p>
            <a:pPr marL="259080" indent="-259080">
              <a:spcBef>
                <a:spcPts val="1080"/>
              </a:spcBef>
              <a:buClr>
                <a:srgbClr val="C2410C"/>
              </a:buClr>
              <a:buSzPct val="100000"/>
              <a:buFont typeface="Arial"/>
              <a:buChar char="•"/>
            </a:pPr>
            <a:r>
              <a:rPr sz="2400" b="0" lang="en-US">
                <a:solidFill>
                  <a:srgbClr val="0F172A"/>
                </a:solidFill>
                <a:latin typeface="Arial"/>
              </a:rPr>
              <a:t>Spanish by default and English complete: the API follows </a:t>
            </a:r>
            <a:r>
              <a:rPr sz="2400" b="0" lang="en-US">
                <a:solidFill>
                  <a:srgbClr val="C2410C"/>
                </a:solidFill>
                <a:latin typeface="Arial"/>
              </a:rPr>
              <a:t>Accept-Language</a:t>
            </a:r>
            <a:r>
              <a:rPr sz="2400" b="0" lang="en-US">
                <a:solidFill>
                  <a:srgbClr val="0F172A"/>
                </a:solidFill>
                <a:latin typeface="Arial"/>
              </a:rPr>
              <a:t>, the web client switches at run time</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Quality and evidence</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343390"/>
          </a:xfrm>
          <a:prstGeom prst="rect">
            <a:avLst/>
          </a:prstGeom>
          <a:noFill/>
        </p:spPr>
        <p:txBody>
          <a:bodyPr wrap="square" anchor="t" lIns="0" rIns="0" tIns="0" bIns="0">
            <a:noAutofit/>
          </a:bodyPr>
          <a:lstStyle/>
          <a:p>
            <a:pPr marL="259080" indent="-259080">
              <a:buClr>
                <a:srgbClr val="C2410C"/>
              </a:buClr>
              <a:buSzPct val="100000"/>
              <a:buFont typeface="Arial"/>
              <a:buChar char="•"/>
            </a:pPr>
            <a:r>
              <a:rPr sz="2400" b="0" lang="en-US">
                <a:solidFill>
                  <a:srgbClr val="0F172A"/>
                </a:solidFill>
                <a:latin typeface="Arial"/>
              </a:rPr>
              <a:t>API: 333 unit and 308 integration tests green, the six golden tests among them</a:t>
            </a:r>
          </a:p>
          <a:p>
            <a:pPr marL="259080" indent="-259080">
              <a:spcBef>
                <a:spcPts val="1080"/>
              </a:spcBef>
              <a:buClr>
                <a:srgbClr val="C2410C"/>
              </a:buClr>
              <a:buSzPct val="100000"/>
              <a:buFont typeface="Arial"/>
              <a:buChar char="•"/>
            </a:pPr>
            <a:r>
              <a:rPr sz="2400" b="0" lang="en-US">
                <a:solidFill>
                  <a:srgbClr val="0F172A"/>
                </a:solidFill>
                <a:latin typeface="Arial"/>
              </a:rPr>
              <a:t>JaCoCo: 100% lines and branches on </a:t>
            </a:r>
            <a:r>
              <a:rPr sz="2400" b="0" lang="en-US">
                <a:solidFill>
                  <a:srgbClr val="C2410C"/>
                </a:solidFill>
                <a:latin typeface="Arial"/>
              </a:rPr>
              <a:t>pricing.domain</a:t>
            </a:r>
            <a:r>
              <a:rPr sz="2400" b="0" lang="en-US">
                <a:solidFill>
                  <a:srgbClr val="0F172A"/>
                </a:solidFill>
                <a:latin typeface="Arial"/>
              </a:rPr>
              <a:t> and </a:t>
            </a:r>
            <a:r>
              <a:rPr sz="2400" b="0" lang="en-US">
                <a:solidFill>
                  <a:srgbClr val="C2410C"/>
                </a:solidFill>
                <a:latin typeface="Arial"/>
              </a:rPr>
              <a:t>pricing.domain.lever</a:t>
            </a:r>
            <a:r>
              <a:rPr sz="2400" b="0" lang="en-US">
                <a:solidFill>
                  <a:srgbClr val="0F172A"/>
                </a:solidFill>
                <a:latin typeface="Arial"/>
              </a:rPr>
              <a:t> (gate 90%); 99.2% lines / 98.0% branches on the whole service</a:t>
            </a:r>
          </a:p>
          <a:p>
            <a:pPr marL="259080" indent="-259080">
              <a:spcBef>
                <a:spcPts val="1080"/>
              </a:spcBef>
              <a:buClr>
                <a:srgbClr val="C2410C"/>
              </a:buClr>
              <a:buSzPct val="100000"/>
              <a:buFont typeface="Arial"/>
              <a:buChar char="•"/>
            </a:pPr>
            <a:r>
              <a:rPr sz="2400" b="0" lang="en-US">
                <a:solidFill>
                  <a:srgbClr val="0F172A"/>
                </a:solidFill>
                <a:latin typeface="Arial"/>
              </a:rPr>
              <a:t>PIT: 185 of 185 mutations detected (100%, threshold 80%)</a:t>
            </a:r>
          </a:p>
          <a:p>
            <a:pPr marL="259080" indent="-259080">
              <a:spcBef>
                <a:spcPts val="1080"/>
              </a:spcBef>
              <a:buClr>
                <a:srgbClr val="C2410C"/>
              </a:buClr>
              <a:buSzPct val="100000"/>
              <a:buFont typeface="Arial"/>
              <a:buChar char="•"/>
            </a:pPr>
            <a:r>
              <a:rPr sz="2400" b="0" lang="en-US">
                <a:solidFill>
                  <a:srgbClr val="0F172A"/>
                </a:solidFill>
                <a:latin typeface="Arial"/>
              </a:rPr>
              <a:t>Web: 209 specs in 15 files, in headless Chromium</a:t>
            </a:r>
          </a:p>
          <a:p>
            <a:pPr marL="259080" indent="-259080">
              <a:spcBef>
                <a:spcPts val="1080"/>
              </a:spcBef>
              <a:buClr>
                <a:srgbClr val="C2410C"/>
              </a:buClr>
              <a:buSzPct val="100000"/>
              <a:buFont typeface="Arial"/>
              <a:buChar char="•"/>
            </a:pPr>
            <a:r>
              <a:rPr sz="2400" b="0" lang="en-US">
                <a:solidFill>
                  <a:srgbClr val="0F172A"/>
                </a:solidFill>
                <a:latin typeface="Arial"/>
              </a:rPr>
              <a:t>End to end: 2 of 2 flows pass, in Spanish and in English, against the full stack</a:t>
            </a:r>
          </a:p>
          <a:p>
            <a:pPr marL="259080" indent="-259080">
              <a:spcBef>
                <a:spcPts val="1080"/>
              </a:spcBef>
              <a:buClr>
                <a:srgbClr val="C2410C"/>
              </a:buClr>
              <a:buSzPct val="100000"/>
              <a:buFont typeface="Arial"/>
              <a:buChar char="•"/>
            </a:pPr>
            <a:r>
              <a:rPr sz="2400" b="0" lang="en-US">
                <a:solidFill>
                  <a:srgbClr val="C2410C"/>
                </a:solidFill>
                <a:latin typeface="Arial"/>
              </a:rPr>
              <a:t>test-all</a:t>
            </a:r>
            <a:r>
              <a:rPr sz="2400" b="0" lang="en-US">
                <a:solidFill>
                  <a:srgbClr val="0F172A"/>
                </a:solidFill>
                <a:latin typeface="Arial"/>
              </a:rPr>
              <a:t>: OK on fresh clones, on 2026-10-17</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How to run it</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206230"/>
          </a:xfrm>
          <a:prstGeom prst="rect">
            <a:avLst/>
          </a:prstGeom>
          <a:noFill/>
        </p:spPr>
        <p:txBody>
          <a:bodyPr wrap="square" anchor="t" lIns="0" rIns="0" tIns="0" bIns="0">
            <a:noAutofit/>
          </a:bodyPr>
          <a:lstStyle/>
          <a:p>
            <a:pPr marL="396240" indent="-396240">
              <a:buClr>
                <a:srgbClr val="C2410C"/>
              </a:buClr>
              <a:buSzPct val="100000"/>
              <a:buFont typeface="Arial"/>
              <a:buAutoNum type="arabicPeriod"/>
            </a:pPr>
            <a:r>
              <a:rPr sz="2400" b="0" lang="en-US">
                <a:solidFill>
                  <a:srgbClr val="0F172A"/>
                </a:solidFill>
                <a:latin typeface="Arial"/>
              </a:rPr>
              <a:t>Clone the six repositories side by side; Docker must be running, with JDK 21 and Node 18 or later for </a:t>
            </a:r>
            <a:r>
              <a:rPr sz="2400" b="0" lang="en-US">
                <a:solidFill>
                  <a:srgbClr val="C2410C"/>
                </a:solidFill>
                <a:latin typeface="Arial"/>
              </a:rPr>
              <a:t>test-all</a:t>
            </a:r>
          </a:p>
          <a:p>
            <a:pPr marL="396240" indent="-396240">
              <a:spcBef>
                <a:spcPts val="1080"/>
              </a:spcBef>
              <a:buClr>
                <a:srgbClr val="C2410C"/>
              </a:buClr>
              <a:buSzPct val="100000"/>
              <a:buFont typeface="Arial"/>
              <a:buAutoNum type="arabicPeriod" startAt="2"/>
            </a:pPr>
            <a:r>
              <a:rPr sz="2400" b="0" lang="en-US">
                <a:solidFill>
                  <a:srgbClr val="C2410C"/>
                </a:solidFill>
                <a:latin typeface="Arial"/>
              </a:rPr>
              <a:t>docker compose up --build</a:t>
            </a:r>
            <a:r>
              <a:rPr sz="2400" b="0" lang="en-US">
                <a:solidFill>
                  <a:srgbClr val="0F172A"/>
                </a:solidFill>
                <a:latin typeface="Arial"/>
              </a:rPr>
              <a:t> in </a:t>
            </a:r>
            <a:r>
              <a:rPr sz="2400" b="0" lang="en-US">
                <a:solidFill>
                  <a:srgbClr val="C2410C"/>
                </a:solidFill>
                <a:latin typeface="Arial"/>
              </a:rPr>
              <a:t>orderflow-engine-infra</a:t>
            </a:r>
            <a:r>
              <a:rPr sz="2400" b="0" lang="en-US">
                <a:solidFill>
                  <a:srgbClr val="0F172A"/>
                </a:solidFill>
                <a:latin typeface="Arial"/>
              </a:rPr>
              <a:t>: the database, the API and the web client</a:t>
            </a:r>
          </a:p>
          <a:p>
            <a:pPr marL="396240" indent="-396240">
              <a:spcBef>
                <a:spcPts val="1080"/>
              </a:spcBef>
              <a:buClr>
                <a:srgbClr val="C2410C"/>
              </a:buClr>
              <a:buSzPct val="100000"/>
              <a:buFont typeface="Arial"/>
              <a:buAutoNum type="arabicPeriod" startAt="3"/>
            </a:pPr>
            <a:r>
              <a:rPr sz="2400" b="0" lang="en-US">
                <a:solidFill>
                  <a:srgbClr val="0F172A"/>
                </a:solidFill>
                <a:latin typeface="Arial"/>
              </a:rPr>
              <a:t>Open </a:t>
            </a:r>
            <a:r>
              <a:rPr sz="2400" b="0" lang="en-US">
                <a:solidFill>
                  <a:srgbClr val="C2410C"/>
                </a:solidFill>
                <a:latin typeface="Arial"/>
              </a:rPr>
              <a:t>http://localhost:8081</a:t>
            </a:r>
            <a:r>
              <a:rPr sz="2400" b="0" lang="en-US">
                <a:solidFill>
                  <a:srgbClr val="0F172A"/>
                </a:solidFill>
                <a:latin typeface="Arial"/>
              </a:rPr>
              <a:t>; the API health is at </a:t>
            </a:r>
            <a:r>
              <a:rPr sz="2400" b="0" lang="en-US">
                <a:solidFill>
                  <a:srgbClr val="C2410C"/>
                </a:solidFill>
                <a:latin typeface="Arial"/>
              </a:rPr>
              <a:t>http://localhost:8080/actuator/health</a:t>
            </a:r>
          </a:p>
          <a:p>
            <a:pPr marL="396240" indent="-396240">
              <a:spcBef>
                <a:spcPts val="1080"/>
              </a:spcBef>
              <a:buClr>
                <a:srgbClr val="C2410C"/>
              </a:buClr>
              <a:buSzPct val="100000"/>
              <a:buFont typeface="Arial"/>
              <a:buAutoNum type="arabicPeriod" startAt="4"/>
            </a:pPr>
            <a:r>
              <a:rPr sz="2400" b="0" lang="en-US">
                <a:solidFill>
                  <a:srgbClr val="C2410C"/>
                </a:solidFill>
                <a:latin typeface="Arial"/>
              </a:rPr>
              <a:t>./mvnw verify</a:t>
            </a:r>
            <a:r>
              <a:rPr sz="2400" b="0" lang="en-US">
                <a:solidFill>
                  <a:srgbClr val="0F172A"/>
                </a:solidFill>
                <a:latin typeface="Arial"/>
              </a:rPr>
              <a:t> in </a:t>
            </a:r>
            <a:r>
              <a:rPr sz="2400" b="0" lang="en-US">
                <a:solidFill>
                  <a:srgbClr val="C2410C"/>
                </a:solidFill>
                <a:latin typeface="Arial"/>
              </a:rPr>
              <a:t>orderflow-engine-api</a:t>
            </a:r>
            <a:r>
              <a:rPr sz="2400" b="0" lang="en-US">
                <a:solidFill>
                  <a:srgbClr val="0F172A"/>
                </a:solidFill>
                <a:latin typeface="Arial"/>
              </a:rPr>
              <a:t>: the single command for the API code and tests</a:t>
            </a:r>
          </a:p>
          <a:p>
            <a:pPr marL="396240" indent="-396240">
              <a:spcBef>
                <a:spcPts val="1080"/>
              </a:spcBef>
              <a:buClr>
                <a:srgbClr val="C2410C"/>
              </a:buClr>
              <a:buSzPct val="100000"/>
              <a:buFont typeface="Arial"/>
              <a:buAutoNum type="arabicPeriod" startAt="5"/>
            </a:pPr>
            <a:r>
              <a:rPr sz="2400" b="0" lang="en-US">
                <a:solidFill>
                  <a:srgbClr val="C2410C"/>
                </a:solidFill>
                <a:latin typeface="Arial"/>
              </a:rPr>
              <a:t>bash scripts/test-all.sh</a:t>
            </a:r>
            <a:r>
              <a:rPr sz="2400" b="0" lang="en-US">
                <a:solidFill>
                  <a:srgbClr val="0F172A"/>
                </a:solidFill>
                <a:latin typeface="Arial"/>
              </a:rPr>
              <a:t> in </a:t>
            </a:r>
            <a:r>
              <a:rPr sz="2400" b="0" lang="en-US">
                <a:solidFill>
                  <a:srgbClr val="C2410C"/>
                </a:solidFill>
                <a:latin typeface="Arial"/>
              </a:rPr>
              <a:t>orderflow-engine-infra</a:t>
            </a:r>
            <a:r>
              <a:rPr sz="2400" b="0" lang="en-US">
                <a:solidFill>
                  <a:srgbClr val="0F172A"/>
                </a:solidFill>
                <a:latin typeface="Arial"/>
              </a:rPr>
              <a:t>: API, web, end to end, documentation and integrity</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What was not included, and why</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343390"/>
          </a:xfrm>
          <a:prstGeom prst="rect">
            <a:avLst/>
          </a:prstGeom>
          <a:noFill/>
        </p:spPr>
        <p:txBody>
          <a:bodyPr wrap="square" anchor="t" lIns="0" rIns="0" tIns="0" bIns="0">
            <a:noAutofit/>
          </a:bodyPr>
          <a:lstStyle/>
          <a:p>
            <a:pPr marL="259080" indent="-259080">
              <a:buClr>
                <a:srgbClr val="C2410C"/>
              </a:buClr>
              <a:buSzPct val="100000"/>
              <a:buFont typeface="Arial"/>
              <a:buChar char="•"/>
            </a:pPr>
            <a:r>
              <a:rPr sz="2400" b="0" lang="en-US">
                <a:solidFill>
                  <a:srgbClr val="0F172A"/>
                </a:solidFill>
                <a:latin typeface="Arial"/>
              </a:rPr>
              <a:t>Authentication: out of scope; tenant and customer come from headers, and a gateway would inject them</a:t>
            </a:r>
          </a:p>
          <a:p>
            <a:pPr marL="259080" indent="-259080">
              <a:spcBef>
                <a:spcPts val="1080"/>
              </a:spcBef>
              <a:buClr>
                <a:srgbClr val="C2410C"/>
              </a:buClr>
              <a:buSzPct val="100000"/>
              <a:buFont typeface="Arial"/>
              <a:buChar char="•"/>
            </a:pPr>
            <a:r>
              <a:rPr sz="2400" b="0" lang="en-US">
                <a:solidFill>
                  <a:srgbClr val="0F172A"/>
                </a:solidFill>
                <a:latin typeface="Arial"/>
              </a:rPr>
              <a:t>Catalog and lever administration: Liquibase changesets seed the stores, products and levers</a:t>
            </a:r>
          </a:p>
          <a:p>
            <a:pPr marL="259080" indent="-259080">
              <a:spcBef>
                <a:spcPts val="1080"/>
              </a:spcBef>
              <a:buClr>
                <a:srgbClr val="C2410C"/>
              </a:buClr>
              <a:buSzPct val="100000"/>
              <a:buFont typeface="Arial"/>
              <a:buChar char="•"/>
            </a:pPr>
            <a:r>
              <a:rPr sz="2400" b="0" lang="en-US">
                <a:solidFill>
                  <a:srgbClr val="0F172A"/>
                </a:solidFill>
                <a:latin typeface="Arial"/>
              </a:rPr>
              <a:t>Payment capture, cancellation and credit release: not required</a:t>
            </a:r>
          </a:p>
          <a:p>
            <a:pPr marL="259080" indent="-259080">
              <a:spcBef>
                <a:spcPts val="1080"/>
              </a:spcBef>
              <a:buClr>
                <a:srgbClr val="C2410C"/>
              </a:buClr>
              <a:buSzPct val="100000"/>
              <a:buFont typeface="Arial"/>
              <a:buChar char="•"/>
            </a:pPr>
            <a:r>
              <a:rPr sz="2400" b="0" lang="en-US">
                <a:solidFill>
                  <a:srgbClr val="0F172A"/>
                </a:solidFill>
                <a:latin typeface="Arial"/>
              </a:rPr>
              <a:t>Real push and ERP clients: fakes behind ports prove the delivery guarantees</a:t>
            </a:r>
          </a:p>
          <a:p>
            <a:pPr marL="259080" indent="-259080">
              <a:spcBef>
                <a:spcPts val="1080"/>
              </a:spcBef>
              <a:buClr>
                <a:srgbClr val="C2410C"/>
              </a:buClr>
              <a:buSzPct val="100000"/>
              <a:buFont typeface="Arial"/>
              <a:buChar char="•"/>
            </a:pPr>
            <a:r>
              <a:rPr sz="2400" b="0" lang="en-US">
                <a:solidFill>
                  <a:srgbClr val="0F172A"/>
                </a:solidFill>
                <a:latin typeface="Arial"/>
              </a:rPr>
              <a:t>Quote revocation: the next step of the ADR's risk mitigation</a:t>
            </a:r>
          </a:p>
          <a:p>
            <a:pPr marL="259080" indent="-259080">
              <a:spcBef>
                <a:spcPts val="1080"/>
              </a:spcBef>
              <a:buClr>
                <a:srgbClr val="C2410C"/>
              </a:buClr>
              <a:buSzPct val="100000"/>
              <a:buFont typeface="Arial"/>
              <a:buChar char="•"/>
            </a:pPr>
            <a:r>
              <a:rPr sz="2400" b="0" lang="en-US">
                <a:solidFill>
                  <a:srgbClr val="0F172A"/>
                </a:solidFill>
                <a:latin typeface="Arial"/>
              </a:rPr>
              <a:t>CI pipeline and SonarQube: verification runs locally; CI would run the same </a:t>
            </a:r>
            <a:r>
              <a:rPr sz="2400" b="0" lang="en-US">
                <a:solidFill>
                  <a:srgbClr val="C2410C"/>
                </a:solidFill>
                <a:latin typeface="Arial"/>
              </a:rPr>
              <a:t>./mvnw verify</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n-US">
                <a:solidFill>
                  <a:srgbClr val="0F172A"/>
                </a:solidFill>
                <a:latin typeface="Arial"/>
              </a:rPr>
              <a:t>Four guarantees, and questions</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343390"/>
          </a:xfrm>
          <a:prstGeom prst="rect">
            <a:avLst/>
          </a:prstGeom>
          <a:noFill/>
        </p:spPr>
        <p:txBody>
          <a:bodyPr wrap="square" anchor="t" lIns="0" rIns="0" tIns="0" bIns="0">
            <a:noAutofit/>
          </a:bodyPr>
          <a:lstStyle/>
          <a:p>
            <a:pPr marL="259080" indent="-259080">
              <a:buClr>
                <a:srgbClr val="C2410C"/>
              </a:buClr>
              <a:buSzPct val="100000"/>
              <a:buFont typeface="Arial"/>
              <a:buChar char="•"/>
            </a:pPr>
            <a:r>
              <a:rPr sz="2400" b="0" lang="en-US">
                <a:solidFill>
                  <a:srgbClr val="0F172A"/>
                </a:solidFill>
                <a:latin typeface="Arial"/>
              </a:rPr>
              <a:t>The quoted total is the confirmed total: sealed, insert-only quotes</a:t>
            </a:r>
          </a:p>
          <a:p>
            <a:pPr marL="259080" indent="-259080">
              <a:spcBef>
                <a:spcPts val="1080"/>
              </a:spcBef>
              <a:buClr>
                <a:srgbClr val="C2410C"/>
              </a:buClr>
              <a:buSzPct val="100000"/>
              <a:buFont typeface="Arial"/>
              <a:buChar char="•"/>
            </a:pPr>
            <a:r>
              <a:rPr sz="2400" b="0" lang="en-US">
                <a:solidFill>
                  <a:srgbClr val="0F172A"/>
                </a:solidFill>
                <a:latin typeface="Arial"/>
              </a:rPr>
              <a:t>No floating point for money: </a:t>
            </a:r>
            <a:r>
              <a:rPr sz="2400" b="0" lang="en-US">
                <a:solidFill>
                  <a:srgbClr val="C2410C"/>
                </a:solidFill>
                <a:latin typeface="Arial"/>
              </a:rPr>
              <a:t>BigDecimal</a:t>
            </a:r>
            <a:r>
              <a:rPr sz="2400" b="0" lang="en-US">
                <a:solidFill>
                  <a:srgbClr val="0F172A"/>
                </a:solidFill>
                <a:latin typeface="Arial"/>
              </a:rPr>
              <a:t>, scale from country data, rounding per line</a:t>
            </a:r>
          </a:p>
          <a:p>
            <a:pPr marL="259080" indent="-259080">
              <a:spcBef>
                <a:spcPts val="1080"/>
              </a:spcBef>
              <a:buClr>
                <a:srgbClr val="C2410C"/>
              </a:buClr>
              <a:buSzPct val="100000"/>
              <a:buFont typeface="Arial"/>
              <a:buChar char="•"/>
            </a:pPr>
            <a:r>
              <a:rPr sz="2400" b="0" lang="en-US">
                <a:solidFill>
                  <a:srgbClr val="0F172A"/>
                </a:solidFill>
                <a:latin typeface="Arial"/>
              </a:rPr>
              <a:t>A 201 means the order exists and can be read: one transaction, reply after commit</a:t>
            </a:r>
          </a:p>
          <a:p>
            <a:pPr marL="259080" indent="-259080">
              <a:spcBef>
                <a:spcPts val="1080"/>
              </a:spcBef>
              <a:buClr>
                <a:srgbClr val="C2410C"/>
              </a:buClr>
              <a:buSzPct val="100000"/>
              <a:buFont typeface="Arial"/>
              <a:buChar char="•"/>
            </a:pPr>
            <a:r>
              <a:rPr sz="2400" b="0" lang="en-US">
                <a:solidFill>
                  <a:srgbClr val="0F172A"/>
                </a:solidFill>
                <a:latin typeface="Arial"/>
              </a:rPr>
              <a:t>Push and ERP effects are never lost and never applied twice: outbox and </a:t>
            </a:r>
            <a:r>
              <a:rPr sz="2400" b="0" lang="en-US">
                <a:solidFill>
                  <a:srgbClr val="C2410C"/>
                </a:solidFill>
                <a:latin typeface="Arial"/>
              </a:rPr>
              <a:t>event_id</a:t>
            </a:r>
          </a:p>
          <a:p>
            <a:pPr marL="259080" indent="-259080">
              <a:spcBef>
                <a:spcPts val="1080"/>
              </a:spcBef>
              <a:buClr>
                <a:srgbClr val="C2410C"/>
              </a:buClr>
              <a:buSzPct val="100000"/>
              <a:buFont typeface="Arial"/>
              <a:buChar char="•"/>
            </a:pPr>
            <a:r>
              <a:rPr sz="2400" b="0" lang="en-US">
                <a:solidFill>
                  <a:srgbClr val="0F172A"/>
                </a:solidFill>
                <a:latin typeface="Arial"/>
              </a:rPr>
              <a:t>Each guarantee has its tests: golden, integration, mutation and end to end</a:t>
            </a:r>
          </a:p>
          <a:p>
            <a:pPr marL="259080" indent="-259080">
              <a:spcBef>
                <a:spcPts val="1080"/>
              </a:spcBef>
              <a:buClr>
                <a:srgbClr val="C2410C"/>
              </a:buClr>
              <a:buSzPct val="100000"/>
              <a:buFont typeface="Arial"/>
              <a:buChar char="•"/>
            </a:pPr>
            <a:r>
              <a:rPr sz="2400" b="0" lang="en-US">
                <a:solidFill>
                  <a:srgbClr val="0F172A"/>
                </a:solidFill>
                <a:latin typeface="Arial"/>
              </a:rPr>
              <a:t>Questions?</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n-US">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n-US">
                <a:solidFill>
                  <a:srgbClr val="64748B"/>
                </a:solidFill>
                <a:latin typeface="Arial"/>
              </a:rPr>
              <a:t>23</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C2410C"/>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C2410C"/>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PresentationFormat>Widescreen</PresentationFormat>
  <Slides>23</Slides>
  <Notes>22</Notes>
  <HiddenSlides>0</HiddenSlides>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Orderflow Engine — Presentation source</dc:title>
  <dc:subject/>
  <dc:creator>Jesús Ariel González Bonilla</dc:creator>
  <cp:keywords/>
  <dc:description/>
  <cp:lastModifiedBy>Jesús Ariel González Bonilla</cp:lastModifiedBy>
  <cp:revision>1</cp:revision>
  <dcterms:created xsi:type="dcterms:W3CDTF">2026-10-17T00:00:00Z</dcterms:created>
  <dcterms:modified xsi:type="dcterms:W3CDTF">2026-10-17T00:00:00Z</dcterms:modified>
  <cp:category/>
  <dc:language>en-US</dc:language>
</cp:coreProperties>
</file>